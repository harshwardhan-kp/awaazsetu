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73" r:id="rId41"/>
    <p:sldId id="274" r:id="rId42"/>
    <p:sldId id="275" r:id="rId43"/>
    <p:sldId id="260" r:id="rId6"/>
    <p:sldId id="261" r:id="rId7"/>
    <p:sldId id="262" r:id="rId8"/>
    <p:sldId id="276" r:id="rId44"/>
    <p:sldId id="277" r:id="rId45"/>
    <p:sldId id="271" r:id="rId9"/>
    <p:sldId id="272" r:id="rId10"/>
    <p:sldId id="270" r:id="rId11"/>
  </p:sldIdLst>
  <p:sldSz cx="9144000" cy="6858000" type="screen4x3"/>
  <p:notesSz cx="7053263" cy="9309100"/>
  <p:embeddedFontLst>
    <p:embeddedFont>
      <p:font typeface="Tahoma" panose="020B0604030504040204" pitchFamily="34" charset="0"/>
      <p:regular r:id="rId13"/>
      <p:bold r:id="rId14"/>
    </p:embeddedFon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Rockwell" panose="02060603020205020403" pitchFamily="18" charset="0"/>
      <p:regular r:id="rId19"/>
      <p:bold r:id="rId20"/>
      <p:italic r:id="rId21"/>
      <p:boldItalic r:id="rId22"/>
    </p:embeddedFont>
    <p:embeddedFont>
      <p:font typeface="Tw Cen MT" panose="020B0602020104020603" pitchFamily="34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000000"/>
          </p15:clr>
        </p15:guide>
        <p15:guide id="2" pos="2222">
          <p15:clr>
            <a:srgbClr val="000000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+1qNuFlpJW1BwGRTG0R+ePvzY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FA4B19-A9D0-47F7-9D78-609EB99368AB}">
  <a:tblStyle styleId="{48FA4B19-A9D0-47F7-9D78-609EB99368AB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2F7"/>
          </a:solidFill>
        </a:fill>
      </a:tcStyle>
    </a:wholeTbl>
    <a:band1H>
      <a:tcTxStyle b="off" i="off"/>
      <a:tcStyle>
        <a:tcBdr/>
        <a:fill>
          <a:solidFill>
            <a:srgbClr val="DCE5E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CE5E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E45771-5636-4804-AEA8-03ED5AEE82C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32"/>
        <p:guide pos="2222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3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font" Target="fonts/font9.fntdata"/><Relationship Id="rId22" Type="http://schemas.openxmlformats.org/officeDocument/2006/relationships/font" Target="fonts/font10.fntdata"/><Relationship Id="rId23" Type="http://schemas.openxmlformats.org/officeDocument/2006/relationships/font" Target="fonts/font11.fntdata"/><Relationship Id="rId24" Type="http://schemas.openxmlformats.org/officeDocument/2006/relationships/font" Target="fonts/font12.fntdata"/><Relationship Id="rId25" Type="http://schemas.openxmlformats.org/officeDocument/2006/relationships/font" Target="fonts/font13.fntdata"/><Relationship Id="rId26" Type="http://schemas.openxmlformats.org/officeDocument/2006/relationships/font" Target="fonts/font14.fntdata"/><Relationship Id="rId27" Type="http://schemas.openxmlformats.org/officeDocument/2006/relationships/font" Target="fonts/font15.fntdata"/><Relationship Id="rId28" Type="http://schemas.openxmlformats.org/officeDocument/2006/relationships/font" Target="fonts/font16.fntdata"/><Relationship Id="rId29" Type="http://schemas.openxmlformats.org/officeDocument/2006/relationships/font" Target="fonts/font17.fntdata"/><Relationship Id="rId30" Type="http://schemas.openxmlformats.org/officeDocument/2006/relationships/font" Target="fonts/font18.fntdata"/><Relationship Id="rId36" Type="http://customschemas.google.com/relationships/presentationmetadata" Target="meta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11.xml"/><Relationship Id="rId45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75775" y="698175"/>
            <a:ext cx="4702400" cy="3490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5325" y="4421800"/>
            <a:ext cx="5642600" cy="41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62733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941388" y="4422775"/>
            <a:ext cx="5170487" cy="418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/>
          <p:cNvSpPr txBox="1">
            <a:spLocks noGrp="1"/>
          </p:cNvSpPr>
          <p:nvPr>
            <p:ph type="sldNum" idx="12"/>
          </p:nvPr>
        </p:nvSpPr>
        <p:spPr>
          <a:xfrm>
            <a:off x="3995738" y="8843963"/>
            <a:ext cx="305752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:notes"/>
          <p:cNvSpPr txBox="1">
            <a:spLocks noGrp="1"/>
          </p:cNvSpPr>
          <p:nvPr>
            <p:ph type="ftr" idx="11"/>
          </p:nvPr>
        </p:nvSpPr>
        <p:spPr>
          <a:xfrm>
            <a:off x="0" y="8843963"/>
            <a:ext cx="305752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RAJARSHI SHAHU COLLEGE OF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>
            <a:spLocks noGrp="1"/>
          </p:cNvSpPr>
          <p:nvPr>
            <p:ph type="body" idx="1"/>
          </p:nvPr>
        </p:nvSpPr>
        <p:spPr>
          <a:xfrm>
            <a:off x="705325" y="4421800"/>
            <a:ext cx="5642600" cy="41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705325" y="4421800"/>
            <a:ext cx="5642600" cy="41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705325" y="4421800"/>
            <a:ext cx="5642600" cy="41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705325" y="4421800"/>
            <a:ext cx="5642600" cy="41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705325" y="4421800"/>
            <a:ext cx="5642600" cy="41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b2289ff19e_3_37:notes"/>
          <p:cNvSpPr txBox="1">
            <a:spLocks noGrp="1"/>
          </p:cNvSpPr>
          <p:nvPr>
            <p:ph type="body" idx="1"/>
          </p:nvPr>
        </p:nvSpPr>
        <p:spPr>
          <a:xfrm>
            <a:off x="705325" y="4421800"/>
            <a:ext cx="5642700" cy="4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gb2289ff19e_3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b2289ff19e_3_37:notes"/>
          <p:cNvSpPr txBox="1">
            <a:spLocks noGrp="1"/>
          </p:cNvSpPr>
          <p:nvPr>
            <p:ph type="body" idx="1"/>
          </p:nvPr>
        </p:nvSpPr>
        <p:spPr>
          <a:xfrm>
            <a:off x="705325" y="4421800"/>
            <a:ext cx="5642700" cy="4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gb2289ff19e_3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5052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b2289ff19e_3_37:notes"/>
          <p:cNvSpPr txBox="1">
            <a:spLocks noGrp="1"/>
          </p:cNvSpPr>
          <p:nvPr>
            <p:ph type="body" idx="1"/>
          </p:nvPr>
        </p:nvSpPr>
        <p:spPr>
          <a:xfrm>
            <a:off x="705325" y="4421800"/>
            <a:ext cx="5642700" cy="4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gb2289ff19e_3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4930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 txBox="1">
            <a:spLocks noGrp="1"/>
          </p:cNvSpPr>
          <p:nvPr>
            <p:ph type="body" idx="1"/>
          </p:nvPr>
        </p:nvSpPr>
        <p:spPr>
          <a:xfrm>
            <a:off x="705325" y="4421800"/>
            <a:ext cx="5642600" cy="41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0" name="Google Shape;3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1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609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2"/>
          </p:nvPr>
        </p:nvSpPr>
        <p:spPr>
          <a:xfrm>
            <a:off x="4800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3"/>
          </p:nvPr>
        </p:nvSpPr>
        <p:spPr>
          <a:xfrm>
            <a:off x="609600" y="1752600"/>
            <a:ext cx="388620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4"/>
          </p:nvPr>
        </p:nvSpPr>
        <p:spPr>
          <a:xfrm>
            <a:off x="4800600" y="1752600"/>
            <a:ext cx="3886200" cy="64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sldNum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sz="4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body" idx="1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chemeClr val="accent2"/>
          </a:solidFill>
          <a:ln w="50800" cap="sq" cmpd="dbl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50" tIns="182875" rIns="137150" bIns="914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body" idx="2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/>
          <p:nvPr/>
        </p:nvSpPr>
        <p:spPr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" name="Google Shape;72;p23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" name="Google Shape;73;p23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Google Shape;74;p23"/>
          <p:cNvSpPr/>
          <p:nvPr/>
        </p:nvSpPr>
        <p:spPr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20"/>
              <a:buFont typeface="Twentieth Century"/>
              <a:buNone/>
              <a:defRPr sz="1700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840"/>
              <a:buFont typeface="Twentieth Century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50"/>
              <a:buFont typeface="Twentieth Century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75"/>
              <a:buFont typeface="Twentieth Century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585"/>
              <a:buFont typeface="Twentieth Century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wentieth Century"/>
              <a:buNone/>
              <a:defRPr sz="28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>
            <a:spLocks noGrp="1"/>
          </p:cNvSpPr>
          <p:nvPr>
            <p:ph type="pic" idx="2"/>
          </p:nvPr>
        </p:nvSpPr>
        <p:spPr>
          <a:xfrm>
            <a:off x="1560576" y="0"/>
            <a:ext cx="7583424" cy="4568952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B81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8B25C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dt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0" y="4667250"/>
            <a:ext cx="14478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ftr" idx="11"/>
          </p:nvPr>
        </p:nvSpPr>
        <p:spPr>
          <a:xfrm>
            <a:off x="1600200" y="62484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body" idx="1"/>
          </p:nvPr>
        </p:nvSpPr>
        <p:spPr>
          <a:xfrm rot="5400000">
            <a:off x="2426494" y="-213518"/>
            <a:ext cx="4525963" cy="8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/>
          <p:nvPr/>
        </p:nvSpPr>
        <p:spPr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" name="Google Shape;89;p25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" name="Google Shape;90;p2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" name="Google Shape;91;p25"/>
          <p:cNvSpPr txBox="1">
            <a:spLocks noGrp="1"/>
          </p:cNvSpPr>
          <p:nvPr>
            <p:ph type="title"/>
          </p:nvPr>
        </p:nvSpPr>
        <p:spPr>
          <a:xfrm rot="5400000">
            <a:off x="4823619" y="2339181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body" idx="1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dt" idx="10"/>
          </p:nvPr>
        </p:nvSpPr>
        <p:spPr>
          <a:xfrm>
            <a:off x="6553200" y="6248400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ftr" idx="11"/>
          </p:nvPr>
        </p:nvSpPr>
        <p:spPr>
          <a:xfrm>
            <a:off x="457200" y="6248400"/>
            <a:ext cx="55737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 rot="5400000">
            <a:off x="5989638" y="144462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Char char="◻"/>
              <a:defRPr sz="2400"/>
            </a:lvl1pPr>
            <a:lvl2pPr marL="914400" lvl="1" indent="-3175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400"/>
              <a:buChar char="?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 sz="1800"/>
            </a:lvl3pPr>
            <a:lvl4pPr marL="182880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600"/>
            </a:lvl4pPr>
            <a:lvl5pPr marL="2286000" lvl="4" indent="-294639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40"/>
              <a:buChar char="■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Char char="◻"/>
              <a:defRPr sz="2400"/>
            </a:lvl1pPr>
            <a:lvl2pPr marL="914400" lvl="1" indent="-3175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400"/>
              <a:buChar char="?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 sz="1800"/>
            </a:lvl3pPr>
            <a:lvl4pPr marL="182880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600"/>
            </a:lvl4pPr>
            <a:lvl5pPr marL="2286000" lvl="4" indent="-294639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40"/>
              <a:buChar char="■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909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4169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813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B81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8B25C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/>
          <p:nvPr/>
        </p:nvSpPr>
        <p:spPr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14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Google Shape;12;p14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" name="Google Shape;13;p14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/>
          <p:nvPr/>
        </p:nvSpPr>
        <p:spPr>
          <a:xfrm>
            <a:off x="0" y="0"/>
            <a:ext cx="91440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endParaRPr lang="en-US" sz="20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20" name="Google Shape;120;p1"/>
          <p:cNvSpPr/>
          <p:nvPr/>
        </p:nvSpPr>
        <p:spPr>
          <a:xfrm>
            <a:off x="304800" y="1524000"/>
            <a:ext cx="8458200" cy="5262939"/>
          </a:xfrm>
          <a:prstGeom prst="rect">
            <a:avLst/>
          </a:prstGeom>
          <a:solidFill>
            <a:srgbClr val="EFCCBF"/>
          </a:solidFill>
          <a:ln w="100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2400"/>
            </a:pPr>
            <a:r>
              <a:rPr lang="en-US" sz="2000" b="1" dirty="0">
                <a:cs typeface="Arial" charset="0"/>
              </a:rPr>
              <a:t/>
            </a:r>
            <a:br>
              <a:rPr lang="en-US" sz="2400" b="1" dirty="0">
                <a:cs typeface="Arial" charset="0"/>
              </a:rPr>
            </a:br>
            <a:r>
              <a:rPr lang="en-US" sz="2000" b="1" dirty="0">
                <a:cs typeface="Arial" charset="0"/>
              </a:rPr>
              <a:t>Course Name </a:t>
            </a:r>
            <a:r>
              <a:rPr lang="en-US" sz="2000" b="1" dirty="0" smtClean="0">
                <a:cs typeface="Arial" charset="0"/>
              </a:rPr>
              <a:t>:</a:t>
            </a:r>
            <a:r>
              <a:rPr lang="en-US" altLang="en-US" sz="2000" dirty="0">
                <a:cs typeface="Times New Roman" panose="02020603050405020304" pitchFamily="18" charset="0"/>
              </a:rPr>
              <a:t>Community Engagement Project</a:t>
            </a:r>
            <a:r>
              <a:rPr lang="en-IN" sz="2000" dirty="0"/>
              <a:t/>
            </a:r>
            <a:br>
              <a:rPr lang="en-IN" sz="2400" dirty="0"/>
            </a:br>
            <a:r>
              <a:rPr lang="en-IN" sz="2000" b="1" dirty="0"/>
              <a:t>Course </a:t>
            </a:r>
            <a:r>
              <a:rPr lang="en-IN" sz="2000" b="1" dirty="0" smtClean="0"/>
              <a:t>Code: BIT25437A0B</a:t>
            </a:r>
            <a:r>
              <a:rPr lang="en-IN" dirty="0" smtClean="0" sz="2000"/>
              <a:t> </a:t>
            </a:r>
            <a:r>
              <a:rPr lang="en-IN" dirty="0" sz="2000"/>
              <a:t>	</a:t>
            </a:r>
          </a:p>
          <a:p>
            <a:pPr lvl="0" algn="ctr">
              <a:buSzPts val="2400"/>
            </a:pPr>
            <a:r>
              <a:rPr lang="en-IN" sz="2000" dirty="0" smtClean="0"/>
              <a:t> </a:t>
            </a:r>
          </a:p>
          <a:p>
            <a:pPr lvl="0" algn="ctr">
              <a:buSzPts val="2400"/>
            </a:pPr>
            <a:r>
              <a:rPr lang="en-US" sz="2000" b="1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Project </a:t>
            </a:r>
            <a:r>
              <a:rPr lang="en-US" sz="20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Title: 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Inclusive Crowdsourcing: A Multilingual, SMS/Voice-Based Framework for Bridging Accessibility Gaps in Disaster Data Collection</a:t>
            </a:r>
          </a:p>
          <a:p>
            <a:pPr lvl="0" algn="ctr">
              <a:buSzPts val="2400"/>
            </a:pPr>
            <a:endParaRPr lang="en-US" sz="24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ctr"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Submitted by: 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Raj Karshnia (4240), Harshwardhan (4223), Harmannat (4221), Himanshu (4224)</a:t>
            </a:r>
          </a:p>
          <a:p>
            <a:pPr lvl="0" algn="ctr">
              <a:buSzPts val="2400"/>
            </a:pPr>
            <a:endParaRPr lang="en-US" sz="24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ctr"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Guide: 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Prof. Priya Nerkar</a:t>
            </a:r>
          </a:p>
          <a:p>
            <a:pPr lvl="0" algn="ctr">
              <a:buSzPts val="2400"/>
            </a:pPr>
            <a:endParaRPr lang="en-US" sz="24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ctr"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Academic Year: </a:t>
            </a:r>
            <a:r>
              <a:rPr lang="en-US" sz="2000" b="1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2026-2027</a:t>
            </a:r>
            <a:endParaRPr lang="en-US" sz="24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ctr">
              <a:buSzPts val="2400"/>
            </a:pPr>
            <a:endParaRPr lang="en-US" sz="24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ctr"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Class: 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Second </a:t>
            </a:r>
            <a:r>
              <a:rPr lang="en-US" sz="200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Year B. Tech 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Division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A</a:t>
            </a:r>
            <a:r>
              <a:rPr lang="en-US" sz="200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1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1</a:t>
            </a:fld>
            <a:endParaRPr sz="119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/>
          <p:nvPr/>
        </p:nvSpPr>
        <p:spPr>
          <a:xfrm>
            <a:off x="457200" y="1600200"/>
            <a:ext cx="7391400" cy="373944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Contents</a:t>
            </a:r>
            <a:r>
              <a:rPr lang="en-US" sz="2800" b="1" i="0" u="none" strike="noStrike" cap="none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013" marR="0" lvl="0" indent="-354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Introduction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013" marR="0" lvl="0" indent="-3540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Literature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Survey &amp; Findings </a:t>
            </a:r>
          </a:p>
          <a:p>
            <a:pPr marL="354013" marR="0" lvl="0" indent="-3540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Project Title</a:t>
            </a:r>
            <a:endParaRPr lang="en-US" sz="2000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354013" marR="0" lvl="0" indent="-3540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Objectives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013" marR="0" lvl="0" indent="-3540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Proposed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Methodology</a:t>
            </a:r>
          </a:p>
          <a:p>
            <a:pPr marL="354013" marR="0" lvl="0" indent="-3540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 smtClean="0">
                <a:solidFill>
                  <a:schemeClr val="dk1"/>
                </a:solidFill>
                <a:latin typeface="Rockwell"/>
                <a:sym typeface="Rockwell"/>
              </a:rPr>
              <a:t>Implementation</a:t>
            </a:r>
          </a:p>
          <a:p>
            <a:pPr marL="354013" marR="0" lvl="0" indent="-3540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 smtClean="0">
                <a:solidFill>
                  <a:schemeClr val="dk1"/>
                </a:solidFill>
                <a:latin typeface="Rockwell"/>
                <a:sym typeface="Rockwell"/>
              </a:rPr>
              <a:t>Result Analysis</a:t>
            </a:r>
          </a:p>
          <a:p>
            <a:pPr marL="354013" marR="0" lvl="0" indent="-3540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Rockwell"/>
                <a:ea typeface="Arial"/>
                <a:cs typeface="Arial"/>
                <a:sym typeface="Rockwell"/>
              </a:rPr>
              <a:t>Conclusion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0" y="0"/>
            <a:ext cx="91440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lang="en-US" sz="20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</a:t>
            </a:r>
            <a:r>
              <a:rPr lang="en-US" sz="20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</a:t>
            </a:r>
            <a:endParaRPr lang="en-US" sz="20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2</a:t>
            </a:fld>
            <a:endParaRPr sz="119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/>
          <p:nvPr/>
        </p:nvSpPr>
        <p:spPr>
          <a:xfrm>
            <a:off x="457200" y="1676400"/>
            <a:ext cx="7391400" cy="523220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Introduction: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0" y="0"/>
            <a:ext cx="9144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42" name="Google Shape;142;p3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3</a:t>
            </a:fld>
            <a:endParaRPr sz="1190"/>
          </a:p>
        </p:txBody>
      </p:sp>
      <p:sp>
        <p:nvSpPr>
          <p:cNvPr id="144" name="Google Shape;144;p3"/>
          <p:cNvSpPr txBox="1"/>
          <p:nvPr/>
        </p:nvSpPr>
        <p:spPr>
          <a:xfrm>
            <a:off x="487680" y="2228459"/>
            <a:ext cx="8162544" cy="42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Disaster response increasingly relies on </a:t>
            </a:r>
            <a:r>
              <a:rPr sz="1700" b="1">
                <a:solidFill>
                  <a:srgbClr val="000000"/>
                </a:solidFill>
                <a:latin typeface="Calibri"/>
              </a:rPr>
              <a:t>crowdsourced data</a:t>
            </a:r>
            <a:r>
              <a:rPr sz="1700" b="0">
                <a:solidFill>
                  <a:srgbClr val="000000"/>
                </a:solidFill>
                <a:latin typeface="Calibri"/>
              </a:rPr>
              <a:t> — citizen reports, social media and volunteered geographic information (VGI).</a:t>
            </a:r>
            <a:endParaRPr sz="1700" i="0" u="none" strike="noStrike" cap="none" dirty="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Most existing systems are built around </a:t>
            </a:r>
            <a:r>
              <a:rPr sz="1700" b="1">
                <a:solidFill>
                  <a:srgbClr val="000000"/>
                </a:solidFill>
                <a:latin typeface="Calibri"/>
              </a:rPr>
              <a:t>English, Twitter-centric, smartphone</a:t>
            </a:r>
            <a:r>
              <a:rPr sz="1700" b="0">
                <a:solidFill>
                  <a:srgbClr val="000000"/>
                </a:solidFill>
                <a:latin typeface="Calibri"/>
              </a:rPr>
              <a:t> inputs.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Yet many residents of flood-prone areas speak </a:t>
            </a:r>
            <a:r>
              <a:rPr sz="1700" b="1">
                <a:solidFill>
                  <a:srgbClr val="000000"/>
                </a:solidFill>
                <a:latin typeface="Calibri"/>
              </a:rPr>
              <a:t>Marathi or Hindi</a:t>
            </a:r>
            <a:r>
              <a:rPr sz="1700" b="0">
                <a:solidFill>
                  <a:srgbClr val="000000"/>
                </a:solidFill>
                <a:latin typeface="Calibri"/>
              </a:rPr>
              <a:t>, use </a:t>
            </a:r>
            <a:r>
              <a:rPr sz="1700" b="1">
                <a:solidFill>
                  <a:srgbClr val="000000"/>
                </a:solidFill>
                <a:latin typeface="Calibri"/>
              </a:rPr>
              <a:t>basic phones</a:t>
            </a:r>
            <a:r>
              <a:rPr sz="1700" b="0">
                <a:solidFill>
                  <a:srgbClr val="000000"/>
                </a:solidFill>
                <a:latin typeface="Calibri"/>
              </a:rPr>
              <a:t>, or have low digital literacy — so they go unheard.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The most vulnerable (elderly, rural, low-income) are often the </a:t>
            </a:r>
            <a:r>
              <a:rPr sz="1700" b="1">
                <a:solidFill>
                  <a:srgbClr val="000000"/>
                </a:solidFill>
                <a:latin typeface="Calibri"/>
              </a:rPr>
              <a:t>least represented</a:t>
            </a:r>
            <a:r>
              <a:rPr sz="1700" b="0">
                <a:solidFill>
                  <a:srgbClr val="000000"/>
                </a:solidFill>
                <a:latin typeface="Calibri"/>
              </a:rPr>
              <a:t> in the very data meant to help them.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Our project builds an </a:t>
            </a:r>
            <a:r>
              <a:rPr sz="1700" b="1">
                <a:solidFill>
                  <a:srgbClr val="000000"/>
                </a:solidFill>
                <a:latin typeface="Calibri"/>
              </a:rPr>
              <a:t>inclusive, multilingual, SMS/voice-ready</a:t>
            </a:r>
            <a:r>
              <a:rPr sz="1700" b="0">
                <a:solidFill>
                  <a:srgbClr val="000000"/>
                </a:solidFill>
                <a:latin typeface="Calibri"/>
              </a:rPr>
              <a:t> reporting framework, implemented as the working prototype </a:t>
            </a:r>
            <a:r>
              <a:rPr sz="1700" b="1">
                <a:solidFill>
                  <a:srgbClr val="000000"/>
                </a:solidFill>
                <a:latin typeface="Calibri"/>
              </a:rPr>
              <a:t>AwaazSetu</a:t>
            </a:r>
            <a:r>
              <a:rPr sz="1700" b="0">
                <a:solidFill>
                  <a:srgbClr val="000000"/>
                </a:solidFill>
                <a:latin typeface="Calibri"/>
              </a:rPr>
              <a:t> for Pune.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315156" y="1600200"/>
            <a:ext cx="8510792" cy="523180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800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Literature Survey &amp; Findings : (Survey 1 of 4)</a:t>
            </a:r>
            <a:endParaRPr sz="2000" b="1" dirty="0">
              <a:solidFill>
                <a:schemeClr val="dk1"/>
              </a:solidFill>
              <a:latin typeface="Rockwell"/>
              <a:ea typeface="Rockwell"/>
              <a:cs typeface="Rockwell"/>
            </a:endParaRPr>
          </a:p>
        </p:txBody>
      </p:sp>
      <p:graphicFrame>
        <p:nvGraphicFramePr>
          <p:cNvPr id="150" name="Google Shape;150;p4"/>
          <p:cNvGraphicFramePr/>
          <p:nvPr>
            <p:extLst>
              <p:ext uri="{D42A27DB-BD31-4B8C-83A1-F6EECF244321}">
                <p14:modId xmlns:p14="http://schemas.microsoft.com/office/powerpoint/2010/main" val="1937766623"/>
              </p:ext>
            </p:extLst>
          </p:nvPr>
        </p:nvGraphicFramePr>
        <p:xfrm>
          <a:off x="317999" y="2151475"/>
          <a:ext cx="8454939" cy="4132400"/>
        </p:xfrm>
        <a:graphic>
          <a:graphicData uri="http://schemas.openxmlformats.org/drawingml/2006/table">
            <a:tbl>
              <a:tblPr firstRow="1" bandRow="1">
                <a:noFill/>
                <a:tableStyleId>{48FA4B19-A9D0-47F7-9D78-609EB99368AB}</a:tableStyleId>
              </a:tblPr>
              <a:tblGrid>
                <a:gridCol w="85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7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Sr. No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Downloaded Paper title with link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Details of paper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(year of publication /Journal </a:t>
                      </a:r>
                      <a:r>
                        <a:rPr lang="en-US" sz="1200" b="1" dirty="0" smtClean="0">
                          <a:effectLst/>
                          <a:latin typeface="Cambria"/>
                          <a:ea typeface="Calibri"/>
                          <a:cs typeface="Times New Roman"/>
                        </a:rPr>
                        <a:t>name)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Findings of Paper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(Min 4 in bullet points)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Unpacking the role of volunteered geographic information in disaster management: focus on data quality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https://www.tandfonline.com/doi/full/10.1080/19475705.2023.2300825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Year: 2023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Taylor &amp; Francis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Review paper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VGI and citizen science are related but distinct concepts</a:t>
                      </a:r>
                      <a:endParaRPr sz="1800" u="none" strike="noStrike" cap="none" dirty="0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Combined bibliometric and text-mining methodology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Five thematic clusters in data-quality literature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VGI quality challenges mapped onto the PPRR disaster cycle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8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 method for assessing the credibility of volunteered geographic information in case of flood crisis</a:t>
                      </a:r>
                      <a:endParaRPr sz="180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https://www.sciencedirect.com/science/article/pii/S1877050922011012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Year: 2022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ScienceDirect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Technology paper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Score-based credibility model for text- and map-based VGI</a:t>
                      </a:r>
                      <a:endParaRPr sz="1800" u="none" strike="noStrike" cap="none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Uses distance, flood hazard and spatial clustering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Validated on Ushahidi reports from the 2013 Brisbane flood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Reports classed high/low credibility against ground truth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Analysis of Mumbai floods in recent years with crowdsourced data</a:t>
                      </a:r>
                      <a:endParaRPr sz="180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https://www.sciencedirect.com/science/article/abs/pii/S2212095524000117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Year: 2024</a:t>
                      </a:r>
                      <a:endParaRPr sz="1800" u="none" strike="noStrike" cap="none" dirty="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ScienceDirect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Technology paper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Urban flooding drivers and impacts</a:t>
                      </a:r>
                      <a:endParaRPr sz="1800" dirty="0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Gaps in traditional flood monitoring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Crowdsourced data as a solution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Choice and challenges of Twitter as a source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2" name="Google Shape;152;p4"/>
          <p:cNvSpPr/>
          <p:nvPr/>
        </p:nvSpPr>
        <p:spPr>
          <a:xfrm>
            <a:off x="0" y="0"/>
            <a:ext cx="9144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55" name="Google Shape;155;p4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4</a:t>
            </a:fld>
            <a:endParaRPr sz="119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315156" y="1600200"/>
            <a:ext cx="8510792" cy="523180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800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Literature Survey &amp; Findings : (Survey 2 of 4)</a:t>
            </a:r>
            <a:endParaRPr sz="2000" b="1" dirty="0">
              <a:solidFill>
                <a:schemeClr val="dk1"/>
              </a:solidFill>
              <a:latin typeface="Rockwell"/>
              <a:ea typeface="Rockwell"/>
              <a:cs typeface="Rockwell"/>
            </a:endParaRPr>
          </a:p>
        </p:txBody>
      </p:sp>
      <p:graphicFrame>
        <p:nvGraphicFramePr>
          <p:cNvPr id="150" name="Google Shape;150;p4"/>
          <p:cNvGraphicFramePr/>
          <p:nvPr>
            <p:extLst>
              <p:ext uri="{D42A27DB-BD31-4B8C-83A1-F6EECF244321}">
                <p14:modId xmlns:p14="http://schemas.microsoft.com/office/powerpoint/2010/main" val="1937766623"/>
              </p:ext>
            </p:extLst>
          </p:nvPr>
        </p:nvGraphicFramePr>
        <p:xfrm>
          <a:off x="317999" y="2151475"/>
          <a:ext cx="8454939" cy="4132400"/>
        </p:xfrm>
        <a:graphic>
          <a:graphicData uri="http://schemas.openxmlformats.org/drawingml/2006/table">
            <a:tbl>
              <a:tblPr firstRow="1" bandRow="1">
                <a:noFill/>
                <a:tableStyleId>{48FA4B19-A9D0-47F7-9D78-609EB99368AB}</a:tableStyleId>
              </a:tblPr>
              <a:tblGrid>
                <a:gridCol w="85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7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Sr. No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Downloaded Paper title with link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Details of paper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(year of publication /Journal </a:t>
                      </a:r>
                      <a:r>
                        <a:rPr lang="en-US" sz="1200" b="1" dirty="0" smtClean="0">
                          <a:effectLst/>
                          <a:latin typeface="Cambria"/>
                          <a:ea typeface="Calibri"/>
                          <a:cs typeface="Times New Roman"/>
                        </a:rPr>
                        <a:t>name)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Findings of Paper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(Min 4 in bullet points)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Opportunities for Crowdsourcing in Urban Flood Monitoring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https://doi.org/10.1016/j.envsoft.2021.105124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Environmental Modelling &amp; Software (Elsevier)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Reviews crowdsourced flood-monitoring sources</a:t>
                      </a:r>
                      <a:endParaRPr sz="1800" u="none" strike="noStrike" cap="none" dirty="0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Examines webcams, social media and citizen science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Shows potential for fine-scale flood monitoring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Identifies data quality and integration challenges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8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Integrating User-Generated Content to Track Urban Flooding Hotspots and Foster Emergency Management: A Case Study in Central China</a:t>
                      </a:r>
                      <a:endParaRPr sz="180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https://doi.org/10.1111/tgis.12836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Transactions in GIS (Wiley)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Uses UGC to identify flood hotspots</a:t>
                      </a:r>
                      <a:endParaRPr sz="1800" u="none" strike="noStrike" cap="none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Applies crawlers, NLP and geographic visualisation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Validates with water level, DEM and rainfall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Supports flood emergency management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Quality Assessment of Crowdsourced Social Media Data for Urban Flood Management</a:t>
                      </a:r>
                      <a:endParaRPr sz="180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https://doi.org/10.1016/j.compenvurbsys.2021.101690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sz="1800" u="none" strike="noStrike" cap="none" dirty="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Computers, Environment and Urban Systems (Elsevier)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Assesses quality of crowdsourced data</a:t>
                      </a:r>
                      <a:endParaRPr sz="1800" dirty="0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Uses flood-related Twitter data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Applies logistic regression and fuzzy logic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Estimates uncertainty in social media observations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2" name="Google Shape;152;p4"/>
          <p:cNvSpPr/>
          <p:nvPr/>
        </p:nvSpPr>
        <p:spPr>
          <a:xfrm>
            <a:off x="0" y="0"/>
            <a:ext cx="9144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55" name="Google Shape;155;p4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4</a:t>
            </a:fld>
            <a:endParaRPr sz="119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315156" y="1600200"/>
            <a:ext cx="8510792" cy="523180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800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Literature Survey &amp; Findings : (Survey 3 of 4)</a:t>
            </a:r>
            <a:endParaRPr sz="2000" b="1" dirty="0">
              <a:solidFill>
                <a:schemeClr val="dk1"/>
              </a:solidFill>
              <a:latin typeface="Rockwell"/>
              <a:ea typeface="Rockwell"/>
              <a:cs typeface="Rockwell"/>
            </a:endParaRPr>
          </a:p>
        </p:txBody>
      </p:sp>
      <p:graphicFrame>
        <p:nvGraphicFramePr>
          <p:cNvPr id="150" name="Google Shape;150;p4"/>
          <p:cNvGraphicFramePr/>
          <p:nvPr>
            <p:extLst>
              <p:ext uri="{D42A27DB-BD31-4B8C-83A1-F6EECF244321}">
                <p14:modId xmlns:p14="http://schemas.microsoft.com/office/powerpoint/2010/main" val="1937766623"/>
              </p:ext>
            </p:extLst>
          </p:nvPr>
        </p:nvGraphicFramePr>
        <p:xfrm>
          <a:off x="317999" y="2151475"/>
          <a:ext cx="8454939" cy="4132400"/>
        </p:xfrm>
        <a:graphic>
          <a:graphicData uri="http://schemas.openxmlformats.org/drawingml/2006/table">
            <a:tbl>
              <a:tblPr firstRow="1" bandRow="1">
                <a:noFill/>
                <a:tableStyleId>{48FA4B19-A9D0-47F7-9D78-609EB99368AB}</a:tableStyleId>
              </a:tblPr>
              <a:tblGrid>
                <a:gridCol w="85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7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Sr. No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Downloaded Paper title with link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Details of paper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(year of publication /Journal </a:t>
                      </a:r>
                      <a:r>
                        <a:rPr lang="en-US" sz="1200" b="1" dirty="0" smtClean="0">
                          <a:effectLst/>
                          <a:latin typeface="Cambria"/>
                          <a:ea typeface="Calibri"/>
                          <a:cs typeface="Times New Roman"/>
                        </a:rPr>
                        <a:t>name)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Findings of Paper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(Min 4 in bullet points)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Deep Learning Methods for Flood Mapping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https://hess.copernicus.org/articles/26/4345/2022/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26 Aug 2022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Hydrology and Earth System Sciences (Copernicus)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Reviewed 58 studies using CNNs and RNNs</a:t>
                      </a:r>
                      <a:endParaRPr sz="1800" u="none" strike="noStrike" cap="none" dirty="0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Faster detection of complex flood patterns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Poor performance in new regions without retraining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Transfer learning suggested for global use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8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Machine Learning for Disaster Prediction and Preparedness</a:t>
                      </a:r>
                      <a:endParaRPr sz="180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https://www.frontiersin.org/journals/environmental-science/articles/10.3389/fenvs.2023.1194918/full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 Nov 2023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Frontiers in Environmental Science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Evaluated ML models for weather and flood prediction</a:t>
                      </a:r>
                      <a:endParaRPr sz="1800" u="none" strike="noStrike" cap="none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ML detects complex patterns in climate data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Enables faster disaster early warnings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Supports scalable real-time alerts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Comparison of Deep Learning Techniques for River Streamflow Forecasting</a:t>
                      </a:r>
                      <a:endParaRPr sz="180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https://ieeexplore.ieee.org/document/9423961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 May 2021</a:t>
                      </a:r>
                      <a:endParaRPr sz="1800" u="none" strike="noStrike" cap="none" dirty="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IEEE Access, Vol. 9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Compared six deep learning models</a:t>
                      </a:r>
                      <a:endParaRPr sz="1800" dirty="0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Daily discharge from seven Red River basin stations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LSTM and GRU outperformed feed-forward and CNN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Single-layer RNNs matched accuracy at lower cost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2" name="Google Shape;152;p4"/>
          <p:cNvSpPr/>
          <p:nvPr/>
        </p:nvSpPr>
        <p:spPr>
          <a:xfrm>
            <a:off x="0" y="0"/>
            <a:ext cx="9144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55" name="Google Shape;155;p4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4</a:t>
            </a:fld>
            <a:endParaRPr sz="119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315156" y="1600200"/>
            <a:ext cx="8510792" cy="523180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800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Literature Survey &amp; Findings : (Survey 4 of 4)</a:t>
            </a:r>
            <a:endParaRPr sz="2000" b="1" dirty="0">
              <a:solidFill>
                <a:schemeClr val="dk1"/>
              </a:solidFill>
              <a:latin typeface="Rockwell"/>
              <a:ea typeface="Rockwell"/>
              <a:cs typeface="Rockwell"/>
            </a:endParaRPr>
          </a:p>
        </p:txBody>
      </p:sp>
      <p:graphicFrame>
        <p:nvGraphicFramePr>
          <p:cNvPr id="150" name="Google Shape;150;p4"/>
          <p:cNvGraphicFramePr/>
          <p:nvPr>
            <p:extLst>
              <p:ext uri="{D42A27DB-BD31-4B8C-83A1-F6EECF244321}">
                <p14:modId xmlns:p14="http://schemas.microsoft.com/office/powerpoint/2010/main" val="1937766623"/>
              </p:ext>
            </p:extLst>
          </p:nvPr>
        </p:nvGraphicFramePr>
        <p:xfrm>
          <a:off x="317999" y="2151475"/>
          <a:ext cx="8454939" cy="4132400"/>
        </p:xfrm>
        <a:graphic>
          <a:graphicData uri="http://schemas.openxmlformats.org/drawingml/2006/table">
            <a:tbl>
              <a:tblPr firstRow="1" bandRow="1">
                <a:noFill/>
                <a:tableStyleId>{48FA4B19-A9D0-47F7-9D78-609EB99368AB}</a:tableStyleId>
              </a:tblPr>
              <a:tblGrid>
                <a:gridCol w="85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7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Sr. No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Downloaded Paper title with link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Details of paper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mbria"/>
                          <a:ea typeface="Calibri"/>
                          <a:cs typeface="Times New Roman"/>
                        </a:rPr>
                        <a:t>(year of publication /Journal </a:t>
                      </a:r>
                      <a:r>
                        <a:rPr lang="en-US" sz="1200" b="1" dirty="0" smtClean="0">
                          <a:effectLst/>
                          <a:latin typeface="Cambria"/>
                          <a:ea typeface="Calibri"/>
                          <a:cs typeface="Times New Roman"/>
                        </a:rPr>
                        <a:t>name)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Findings of Paper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mbria"/>
                          <a:ea typeface="Calibri"/>
                          <a:cs typeface="Times New Roman"/>
                        </a:rPr>
                        <a:t>(Min 4 in bullet points)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 systematic review of social media-enabled flood disaster informatics: method, technology and application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https://doi.org/10.1016/j.jag.2025.104935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Int. J. of Applied Earth Observation and Geoinformation (Elsevier)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Social media fills gaps in traditional monitoring</a:t>
                      </a:r>
                      <a:endParaRPr sz="1800" u="none" strike="noStrike" cap="none" dirty="0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Multimodal data + AI boosts flood monitoring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Authenticity checks and integration remain open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Pipeline: analysis → detection → awareness → mapping → response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8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Prototype citizen and community science app for urban heavy rainfall risk management in the Ahr Valley, Germany</a:t>
                      </a:r>
                      <a:endParaRPr sz="180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https://doi.org/10.5194/nhess-26-1795-2026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2026</a:t>
                      </a:r>
                      <a:endParaRPr sz="1800" u="none" strike="noStrike" cap="none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Natural Hazards and Earth System Sciences (Copernicus)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Personal risk perception drives action</a:t>
                      </a:r>
                      <a:endParaRPr sz="1800" u="none" strike="noStrike" cap="none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Hybrid app → API → geo data warehouse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Privacy by design with anonymous IDs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Gaps: offline support, GNSS accuracy, validation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Mobile and web-based application for flood data collection based on citizen science</a:t>
                      </a:r>
                      <a:endParaRPr sz="180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doi:10.1007/s12145-024-01664-1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sz="1800" u="none" strike="noStrike" cap="none" dirty="0"/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Earth Science Informatics (Springer)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14300" marR="0" lvl="0" indent="-114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Modified Design Thinking suits small teams</a:t>
                      </a:r>
                      <a:endParaRPr sz="1800" dirty="0"/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 data + social images + satellite estimates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Structured DB enables web-GIS queries</a:t>
                      </a:r>
                    </a:p>
                    <a:p>
                      <a:pPr marL="114300" indent="-114300">
                        <a:buFont typeface="Arial"/>
                        <a:buChar char="•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CSV export; 97 users, 212 rows at prototype scale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2" name="Google Shape;152;p4"/>
          <p:cNvSpPr/>
          <p:nvPr/>
        </p:nvSpPr>
        <p:spPr>
          <a:xfrm>
            <a:off x="0" y="0"/>
            <a:ext cx="9144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55" name="Google Shape;155;p4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4</a:t>
            </a:fld>
            <a:endParaRPr sz="119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/>
          <p:nvPr/>
        </p:nvSpPr>
        <p:spPr>
          <a:xfrm>
            <a:off x="457200" y="1676400"/>
            <a:ext cx="7391400" cy="523220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800"/>
            </a:pPr>
            <a:r>
              <a:rPr lang="en-US" sz="2800" b="1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Project </a:t>
            </a:r>
            <a:r>
              <a:rPr lang="en-US" sz="2800" b="1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Title:</a:t>
            </a:r>
            <a:endParaRPr lang="en-US" sz="2800" b="1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0" y="0"/>
            <a:ext cx="9144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66" name="Google Shape;166;p5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5</a:t>
            </a:fld>
            <a:endParaRPr sz="1190"/>
          </a:p>
        </p:txBody>
      </p:sp>
      <p:sp>
        <p:nvSpPr>
          <p:cNvPr id="168" name="Google Shape;168;p5"/>
          <p:cNvSpPr txBox="1"/>
          <p:nvPr/>
        </p:nvSpPr>
        <p:spPr>
          <a:xfrm>
            <a:off x="555075" y="2524750"/>
            <a:ext cx="7563900" cy="40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SzPts val="1800"/>
              <a:buNone/>
            </a:pPr>
            <a:r>
              <a:rPr sz="1700" b="1">
                <a:solidFill>
                  <a:srgbClr val="000000"/>
                </a:solidFill>
                <a:latin typeface="Calibri"/>
              </a:rPr>
              <a:t>Inclusive Crowdsourcing: A Multilingual, SMS/Voice-Based Framework for Bridging Accessibility Gaps in Disaster Data Collection</a:t>
            </a:r>
            <a:endParaRPr sz="18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sz="1700" b="0">
                <a:solidFill>
                  <a:srgbClr val="000000"/>
                </a:solidFill>
                <a:latin typeface="Calibri"/>
              </a:rPr>
              <a:t>Working prototype: </a:t>
            </a:r>
            <a:r>
              <a:rPr sz="1700" b="1">
                <a:solidFill>
                  <a:srgbClr val="000000"/>
                </a:solidFill>
                <a:latin typeface="Calibri"/>
              </a:rPr>
              <a:t>AwaazSetu</a:t>
            </a:r>
            <a:r>
              <a:rPr sz="1700" b="0">
                <a:solidFill>
                  <a:srgbClr val="000000"/>
                </a:solidFill>
                <a:latin typeface="Calibri"/>
              </a:rPr>
              <a:t> (आवाज़ सेतु, “voice bridge”) — a multilingual flood-reporting and coordination system for Pune community drills.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Residents report by </a:t>
            </a:r>
            <a:r>
              <a:rPr sz="1700" b="1">
                <a:solidFill>
                  <a:srgbClr val="000000"/>
                </a:solidFill>
                <a:latin typeface="Calibri"/>
              </a:rPr>
              <a:t>web, voice, SMS or Telegram</a:t>
            </a:r>
            <a:r>
              <a:rPr sz="1700" b="0">
                <a:solidFill>
                  <a:srgbClr val="000000"/>
                </a:solidFill>
                <a:latin typeface="Calibri"/>
              </a:rPr>
              <a:t> in Marathi, Hindi or English.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Coordinators see a </a:t>
            </a:r>
            <a:r>
              <a:rPr sz="1700" b="1">
                <a:solidFill>
                  <a:srgbClr val="000000"/>
                </a:solidFill>
                <a:latin typeface="Calibri"/>
              </a:rPr>
              <a:t>mapped, prioritised and explained</a:t>
            </a:r>
            <a:r>
              <a:rPr sz="1700" b="0">
                <a:solidFill>
                  <a:srgbClr val="000000"/>
                </a:solidFill>
                <a:latin typeface="Calibri"/>
              </a:rPr>
              <a:t> incident queue.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A </a:t>
            </a:r>
            <a:r>
              <a:rPr sz="1700" b="1">
                <a:solidFill>
                  <a:srgbClr val="000000"/>
                </a:solidFill>
                <a:latin typeface="Calibri"/>
              </a:rPr>
              <a:t>coverage dashboard</a:t>
            </a:r>
            <a:r>
              <a:rPr sz="1700" b="0">
                <a:solidFill>
                  <a:srgbClr val="000000"/>
                </a:solidFill>
                <a:latin typeface="Calibri"/>
              </a:rPr>
              <a:t> shows which languages and areas are under-reported.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/>
          <p:nvPr/>
        </p:nvSpPr>
        <p:spPr>
          <a:xfrm>
            <a:off x="457200" y="1600200"/>
            <a:ext cx="7391400" cy="523220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Objectives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26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0" y="0"/>
            <a:ext cx="9144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78" name="Google Shape;178;p6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6</a:t>
            </a:fld>
            <a:endParaRPr sz="1190"/>
          </a:p>
        </p:txBody>
      </p:sp>
      <p:sp>
        <p:nvSpPr>
          <p:cNvPr id="181" name="Google Shape;181;p6"/>
          <p:cNvSpPr txBox="1"/>
          <p:nvPr/>
        </p:nvSpPr>
        <p:spPr>
          <a:xfrm>
            <a:off x="590900" y="2506850"/>
            <a:ext cx="8324500" cy="3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Accept flood reports in </a:t>
            </a:r>
            <a:r>
              <a:rPr sz="1600" b="1">
                <a:solidFill>
                  <a:srgbClr val="000000"/>
                </a:solidFill>
                <a:latin typeface="Calibri"/>
              </a:rPr>
              <a:t>Marathi, Hindi and English</a:t>
            </a:r>
            <a:r>
              <a:rPr sz="1600" b="0">
                <a:solidFill>
                  <a:srgbClr val="000000"/>
                </a:solidFill>
                <a:latin typeface="Calibri"/>
              </a:rPr>
              <a:t> through </a:t>
            </a:r>
            <a:r>
              <a:rPr sz="1600" b="1">
                <a:solidFill>
                  <a:srgbClr val="000000"/>
                </a:solidFill>
                <a:latin typeface="Calibri"/>
              </a:rPr>
              <a:t>web, voice, SMS and Telegram</a:t>
            </a:r>
            <a:r>
              <a:rPr sz="1600" b="0">
                <a:solidFill>
                  <a:srgbClr val="000000"/>
                </a:solidFill>
                <a:latin typeface="Calibri"/>
              </a:rPr>
              <a:t>, so basic-phone users are included.</a:t>
            </a:r>
            <a:endParaRPr sz="20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Extract structured facts (incident type, people, water level, vulnerability) using </a:t>
            </a:r>
            <a:r>
              <a:rPr sz="1600" b="1">
                <a:solidFill>
                  <a:srgbClr val="000000"/>
                </a:solidFill>
                <a:latin typeface="Calibri"/>
              </a:rPr>
              <a:t>AI with a rules fallback</a:t>
            </a:r>
            <a:r>
              <a:rPr sz="1600" b="0">
                <a:solidFill>
                  <a:srgbClr val="000000"/>
                </a:solidFill>
                <a:latin typeface="Calibri"/>
              </a:rPr>
              <a:t> that works offline.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Resolve informal </a:t>
            </a:r>
            <a:r>
              <a:rPr sz="1600" b="1">
                <a:solidFill>
                  <a:srgbClr val="000000"/>
                </a:solidFill>
                <a:latin typeface="Calibri"/>
              </a:rPr>
              <a:t>landmark names</a:t>
            </a:r>
            <a:r>
              <a:rPr sz="1600" b="0">
                <a:solidFill>
                  <a:srgbClr val="000000"/>
                </a:solidFill>
                <a:latin typeface="Calibri"/>
              </a:rPr>
              <a:t> to locations, and </a:t>
            </a:r>
            <a:r>
              <a:rPr sz="1600" b="1">
                <a:solidFill>
                  <a:srgbClr val="000000"/>
                </a:solidFill>
                <a:latin typeface="Calibri"/>
              </a:rPr>
              <a:t>ask instead of guessing</a:t>
            </a:r>
            <a:r>
              <a:rPr sz="1600" b="0">
                <a:solidFill>
                  <a:srgbClr val="000000"/>
                </a:solidFill>
                <a:latin typeface="Calibri"/>
              </a:rPr>
              <a:t> when unclear.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Give each report a </a:t>
            </a:r>
            <a:r>
              <a:rPr sz="1600" b="1">
                <a:solidFill>
                  <a:srgbClr val="000000"/>
                </a:solidFill>
                <a:latin typeface="Calibri"/>
              </a:rPr>
              <a:t>transparent, explained priority score</a:t>
            </a:r>
            <a:r>
              <a:rPr sz="1600" b="0">
                <a:solidFill>
                  <a:srgbClr val="000000"/>
                </a:solidFill>
                <a:latin typeface="Calibri"/>
              </a:rPr>
              <a:t> and merge duplicates conservatively.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Keep reporters informed in </a:t>
            </a:r>
            <a:r>
              <a:rPr sz="1600" b="1">
                <a:solidFill>
                  <a:srgbClr val="000000"/>
                </a:solidFill>
                <a:latin typeface="Calibri"/>
              </a:rPr>
              <a:t>their own language</a:t>
            </a:r>
            <a:r>
              <a:rPr sz="1600" b="0">
                <a:solidFill>
                  <a:srgbClr val="000000"/>
                </a:solidFill>
                <a:latin typeface="Calibri"/>
              </a:rPr>
              <a:t> and support </a:t>
            </a:r>
            <a:r>
              <a:rPr sz="1600" b="1">
                <a:solidFill>
                  <a:srgbClr val="000000"/>
                </a:solidFill>
                <a:latin typeface="Calibri"/>
              </a:rPr>
              <a:t>opt-in area alerts</a:t>
            </a:r>
            <a:r>
              <a:rPr sz="16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Measure </a:t>
            </a:r>
            <a:r>
              <a:rPr sz="1600" b="1">
                <a:solidFill>
                  <a:srgbClr val="000000"/>
                </a:solidFill>
                <a:latin typeface="Calibri"/>
              </a:rPr>
              <a:t>inclusion</a:t>
            </a:r>
            <a:r>
              <a:rPr sz="1600" b="0">
                <a:solidFill>
                  <a:srgbClr val="000000"/>
                </a:solidFill>
                <a:latin typeface="Calibri"/>
              </a:rPr>
              <a:t>: show which languages, channels and areas are under-represented.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Protect </a:t>
            </a:r>
            <a:r>
              <a:rPr sz="1600" b="1">
                <a:solidFill>
                  <a:srgbClr val="000000"/>
                </a:solidFill>
                <a:latin typeface="Calibri"/>
              </a:rPr>
              <a:t>privacy</a:t>
            </a:r>
            <a:r>
              <a:rPr sz="1600" b="0">
                <a:solidFill>
                  <a:srgbClr val="000000"/>
                </a:solidFill>
                <a:latin typeface="Calibri"/>
              </a:rPr>
              <a:t> with consent, encrypted contacts and human review of every decision.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b2289ff19e_3_37"/>
          <p:cNvSpPr/>
          <p:nvPr/>
        </p:nvSpPr>
        <p:spPr>
          <a:xfrm>
            <a:off x="0" y="0"/>
            <a:ext cx="9144000" cy="107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90" name="Google Shape;190;gb2289ff19e_3_37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7</a:t>
            </a:fld>
            <a:endParaRPr sz="1190"/>
          </a:p>
        </p:txBody>
      </p:sp>
      <p:sp>
        <p:nvSpPr>
          <p:cNvPr id="193" name="Google Shape;193;gb2289ff19e_3_37"/>
          <p:cNvSpPr/>
          <p:nvPr/>
        </p:nvSpPr>
        <p:spPr>
          <a:xfrm>
            <a:off x="368300" y="1580713"/>
            <a:ext cx="8567656" cy="523200"/>
          </a:xfrm>
          <a:prstGeom prst="rect">
            <a:avLst/>
          </a:prstGeom>
          <a:blipFill rotWithShape="1">
            <a:blip r:embed="rId3">
              <a:alphaModFix/>
            </a:blip>
            <a:tile tx="0" ty="0" sx="99997" sy="99997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Proposed Methodology </a:t>
            </a:r>
            <a:r>
              <a:rPr lang="en-US" sz="2800" b="1" i="0" u="none" strike="noStrike" cap="none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(Block Diagram)</a:t>
            </a:r>
            <a:endParaRPr sz="2800" b="1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  <p:pic>
        <p:nvPicPr>
          <p:cNvPr id="194" name="Block diagram: residents to intake, extraction, location, triage and merge, database, coordinator console, notification and tracking" descr="Block diagram: residents to intake, extraction, location, triage and merge, database, coordinator console, notification and track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00" y="2160000"/>
            <a:ext cx="8400000" cy="4357500"/>
          </a:xfrm>
          <a:prstGeom prst="rect">
            <a:avLst/>
          </a:prstGeom>
          <a:ln w="12700">
            <a:solidFill>
              <a:srgbClr val="94B6D2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b2289ff19e_3_37"/>
          <p:cNvSpPr/>
          <p:nvPr/>
        </p:nvSpPr>
        <p:spPr>
          <a:xfrm>
            <a:off x="0" y="0"/>
            <a:ext cx="9144000" cy="107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90" name="Google Shape;190;gb2289ff19e_3_37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7</a:t>
            </a:fld>
            <a:endParaRPr sz="1190"/>
          </a:p>
        </p:txBody>
      </p:sp>
      <p:sp>
        <p:nvSpPr>
          <p:cNvPr id="193" name="Google Shape;193;gb2289ff19e_3_37"/>
          <p:cNvSpPr/>
          <p:nvPr/>
        </p:nvSpPr>
        <p:spPr>
          <a:xfrm>
            <a:off x="368300" y="1580713"/>
            <a:ext cx="8567656" cy="523200"/>
          </a:xfrm>
          <a:prstGeom prst="rect">
            <a:avLst/>
          </a:prstGeom>
          <a:blipFill rotWithShape="1">
            <a:blip r:embed="rId3">
              <a:alphaModFix/>
            </a:blip>
            <a:tile tx="0" ty="0" sx="99997" sy="99997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Implementation : Resident Interface</a:t>
            </a:r>
            <a:endParaRPr sz="2800" b="1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  <p:pic>
        <p:nvPicPr>
          <p:cNvPr id="194" name="Resident report form on desktop" descr="Resident report form on deskt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170000"/>
            <a:ext cx="5550000" cy="3700000"/>
          </a:xfrm>
          <a:prstGeom prst="rect">
            <a:avLst/>
          </a:prstGeom>
          <a:ln w="12700">
            <a:solidFill>
              <a:srgbClr val="94B6D2"/>
            </a:solidFill>
          </a:ln>
        </p:spPr>
      </p:pic>
      <p:pic>
        <p:nvPicPr>
          <p:cNvPr id="195" name="Resident report form on a phone in Marathi" descr="Resident report form on a phone in Marath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000" y="2170000"/>
            <a:ext cx="1709716" cy="3700000"/>
          </a:xfrm>
          <a:prstGeom prst="rect">
            <a:avLst/>
          </a:prstGeom>
          <a:ln w="12700">
            <a:solidFill>
              <a:srgbClr val="94B6D2"/>
            </a:solidFill>
          </a:ln>
        </p:spPr>
      </p:pic>
      <p:sp>
        <p:nvSpPr>
          <p:cNvPr id="196" name="TextBox 195"/>
          <p:cNvSpPr txBox="1"/>
          <p:nvPr/>
        </p:nvSpPr>
        <p:spPr>
          <a:xfrm>
            <a:off x="368300" y="595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400" b="1">
                <a:solidFill>
                  <a:srgbClr val="000000"/>
                </a:solidFill>
                <a:latin typeface="Calibri"/>
              </a:rPr>
              <a:t>Features:</a:t>
            </a:r>
            <a:r>
              <a:rPr sz="1400" b="0">
                <a:solidFill>
                  <a:srgbClr val="000000"/>
                </a:solidFill>
                <a:latin typeface="Calibri"/>
              </a:rPr>
              <a:t> three languages · voice with editable transcript · optional GPS · consent · ticket ID and private tracking link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b2289ff19e_3_37"/>
          <p:cNvSpPr/>
          <p:nvPr/>
        </p:nvSpPr>
        <p:spPr>
          <a:xfrm>
            <a:off x="0" y="0"/>
            <a:ext cx="9144000" cy="107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90" name="Google Shape;190;gb2289ff19e_3_37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7</a:t>
            </a:fld>
            <a:endParaRPr sz="1190"/>
          </a:p>
        </p:txBody>
      </p:sp>
      <p:sp>
        <p:nvSpPr>
          <p:cNvPr id="193" name="Google Shape;193;gb2289ff19e_3_37"/>
          <p:cNvSpPr/>
          <p:nvPr/>
        </p:nvSpPr>
        <p:spPr>
          <a:xfrm>
            <a:off x="368300" y="1580713"/>
            <a:ext cx="8567656" cy="523200"/>
          </a:xfrm>
          <a:prstGeom prst="rect">
            <a:avLst/>
          </a:prstGeom>
          <a:blipFill rotWithShape="1">
            <a:blip r:embed="rId3">
              <a:alphaModFix/>
            </a:blip>
            <a:tile tx="0" ty="0" sx="99997" sy="99997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Implementation : Coordinator Console</a:t>
            </a:r>
            <a:endParaRPr sz="2800" b="1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  <p:pic>
        <p:nvPicPr>
          <p:cNvPr id="194" name="Coordinator overview: map and priority queue" descr="Coordinator overview: map and priority que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170000"/>
            <a:ext cx="4150000" cy="2766667"/>
          </a:xfrm>
          <a:prstGeom prst="rect">
            <a:avLst/>
          </a:prstGeom>
          <a:ln w="12700">
            <a:solidFill>
              <a:srgbClr val="94B6D2"/>
            </a:solidFill>
          </a:ln>
        </p:spPr>
      </p:pic>
      <p:pic>
        <p:nvPicPr>
          <p:cNvPr id="195" name="Incident detail with explained priority score" descr="Incident detail with explained priority sco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0000" y="2170000"/>
            <a:ext cx="4150000" cy="2766667"/>
          </a:xfrm>
          <a:prstGeom prst="rect">
            <a:avLst/>
          </a:prstGeom>
          <a:ln w="12700">
            <a:solidFill>
              <a:srgbClr val="94B6D2"/>
            </a:solidFill>
          </a:ln>
        </p:spPr>
      </p:pic>
      <p:sp>
        <p:nvSpPr>
          <p:cNvPr id="196" name="TextBox 195"/>
          <p:cNvSpPr txBox="1"/>
          <p:nvPr/>
        </p:nvSpPr>
        <p:spPr>
          <a:xfrm>
            <a:off x="368300" y="5000000"/>
            <a:ext cx="8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Calibri"/>
              </a:rPr>
              <a:t>Overview:</a:t>
            </a:r>
            <a:r>
              <a:rPr sz="1300" b="0">
                <a:solidFill>
                  <a:srgbClr val="000000"/>
                </a:solidFill>
                <a:latin typeface="Calibri"/>
              </a:rPr>
              <a:t> live priority queue, private incident map, filters by status, priority, language and channel.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Calibri"/>
              </a:rPr>
              <a:t>Incident detail:</a:t>
            </a:r>
            <a:r>
              <a:rPr sz="1300" b="0">
                <a:solidFill>
                  <a:srgbClr val="000000"/>
                </a:solidFill>
                <a:latin typeface="Calibri"/>
              </a:rPr>
              <a:t> score reasons, original message, verify / respond / resolve / dismiss, notes and merge with a reason.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Calibri"/>
              </a:rPr>
              <a:t>Stack:</a:t>
            </a:r>
            <a:r>
              <a:rPr sz="1300" b="0">
                <a:solidFill>
                  <a:srgbClr val="000000"/>
                </a:solidFill>
                <a:latin typeface="Calibri"/>
              </a:rPr>
              <a:t> React + Vite, Leaflet, Recharts · FastAPI, SQLAlchemy, SQLite · optional OpenAI extraction and speech.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b2289ff19e_3_37"/>
          <p:cNvSpPr/>
          <p:nvPr/>
        </p:nvSpPr>
        <p:spPr>
          <a:xfrm>
            <a:off x="0" y="0"/>
            <a:ext cx="9144000" cy="107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90" name="Google Shape;190;gb2289ff19e_3_37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8</a:t>
            </a:fld>
            <a:endParaRPr sz="1190"/>
          </a:p>
        </p:txBody>
      </p:sp>
      <p:sp>
        <p:nvSpPr>
          <p:cNvPr id="193" name="Google Shape;193;gb2289ff19e_3_37"/>
          <p:cNvSpPr/>
          <p:nvPr/>
        </p:nvSpPr>
        <p:spPr>
          <a:xfrm>
            <a:off x="368300" y="1580713"/>
            <a:ext cx="8567656" cy="523200"/>
          </a:xfrm>
          <a:prstGeom prst="rect">
            <a:avLst/>
          </a:prstGeom>
          <a:blipFill rotWithShape="1">
            <a:blip r:embed="rId3">
              <a:alphaModFix/>
            </a:blip>
            <a:tile tx="0" ty="0" sx="99997" sy="99997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Result Analysis</a:t>
            </a:r>
            <a:endParaRPr sz="2800" b="1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  <p:graphicFrame>
        <p:nvGraphicFramePr>
          <p:cNvPr id="194" name="Table 193"/>
          <p:cNvGraphicFramePr>
            <a:graphicFrameLocks noGrp="1"/>
          </p:cNvGraphicFramePr>
          <p:nvPr/>
        </p:nvGraphicFramePr>
        <p:xfrm>
          <a:off x="368300" y="2170000"/>
          <a:ext cx="8400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400000"/>
                <a:gridCol w="3300000"/>
              </a:tblGrid>
              <a:tr h="42857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Test /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/>
                </a:tc>
              </a:tr>
              <a:tr h="42857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Backend automated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88 / 88 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pytest; API, triage, location, delivery, voice</a:t>
                      </a:r>
                    </a:p>
                  </a:txBody>
                  <a:tcPr/>
                </a:tc>
              </a:tr>
              <a:tr h="42857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Browser UI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10 / 10 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Playwright; resident and coordinator flows</a:t>
                      </a:r>
                    </a:p>
                  </a:txBody>
                  <a:tcPr/>
                </a:tc>
              </a:tr>
              <a:tr h="42857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Synthetic triage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150 / 150 exact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50 cases each in EN, HI, MR; 7 fields</a:t>
                      </a:r>
                    </a:p>
                  </a:txBody>
                  <a:tcPr/>
                </a:tc>
              </a:tr>
              <a:tr h="42857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Report intake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median 7.4 ms, p95 9.8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200 local reports, offline rules mode</a:t>
                      </a:r>
                    </a:p>
                  </a:txBody>
                  <a:tcPr/>
                </a:tc>
              </a:tr>
              <a:tr h="42857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Location lookup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0.24 ms per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450-place Pune gazetteer</a:t>
                      </a:r>
                    </a:p>
                  </a:txBody>
                  <a:tcPr/>
                </a:tc>
              </a:tr>
              <a:tr h="42857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Field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Marathi speech accuracy, duplicate F1, landmark accuracy, SMS latency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5" name="TextBox 194"/>
          <p:cNvSpPr txBox="1"/>
          <p:nvPr/>
        </p:nvSpPr>
        <p:spPr>
          <a:xfrm>
            <a:off x="368300" y="5500000"/>
            <a:ext cx="8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000000"/>
                </a:solidFill>
                <a:latin typeface="Calibri"/>
              </a:rPr>
              <a:t>Analysis:</a:t>
            </a:r>
            <a:r>
              <a:rPr sz="1300" b="0">
                <a:solidFill>
                  <a:srgbClr val="000000"/>
                </a:solidFill>
                <a:latin typeface="Calibri"/>
              </a:rPr>
              <a:t> the rules engine handles all three languages consistently and responds in milliseconds, so it works offline and without AI cost. The synthetic suite is a regression check, </a:t>
            </a:r>
            <a:r>
              <a:rPr sz="1300" b="1">
                <a:solidFill>
                  <a:srgbClr val="000000"/>
                </a:solidFill>
                <a:latin typeface="Calibri"/>
              </a:rPr>
              <a:t>not field accuracy</a:t>
            </a:r>
            <a:r>
              <a:rPr sz="1300" b="0">
                <a:solidFill>
                  <a:srgbClr val="000000"/>
                </a:solidFill>
                <a:latin typeface="Calibri"/>
              </a:rPr>
              <a:t>; real accuracy needs a supervised community drill.</a:t>
            </a:r>
          </a:p>
        </p:txBody>
      </p:sp>
    </p:spTree>
    <p:extLst>
      <p:ext uri="{BB962C8B-B14F-4D97-AF65-F5344CB8AC3E}">
        <p14:creationId xmlns:p14="http://schemas.microsoft.com/office/powerpoint/2010/main" val="928943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b2289ff19e_3_37"/>
          <p:cNvSpPr/>
          <p:nvPr/>
        </p:nvSpPr>
        <p:spPr>
          <a:xfrm>
            <a:off x="0" y="0"/>
            <a:ext cx="9144000" cy="107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190" name="Google Shape;190;gb2289ff19e_3_37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9</a:t>
            </a:fld>
            <a:endParaRPr sz="1190"/>
          </a:p>
        </p:txBody>
      </p:sp>
      <p:sp>
        <p:nvSpPr>
          <p:cNvPr id="193" name="Google Shape;193;gb2289ff19e_3_37"/>
          <p:cNvSpPr/>
          <p:nvPr/>
        </p:nvSpPr>
        <p:spPr>
          <a:xfrm>
            <a:off x="368300" y="1580713"/>
            <a:ext cx="8567656" cy="523200"/>
          </a:xfrm>
          <a:prstGeom prst="rect">
            <a:avLst/>
          </a:prstGeom>
          <a:blipFill rotWithShape="1">
            <a:blip r:embed="rId3">
              <a:alphaModFix/>
            </a:blip>
            <a:tile tx="0" ty="0" sx="99997" sy="99997" flip="none" algn="tl"/>
          </a:blip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smtClean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Conclusion:</a:t>
            </a:r>
            <a:endParaRPr sz="2800" b="1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94" name="Google Shape;194;gb2289ff19e_3_37"/>
          <p:cNvSpPr txBox="1"/>
          <p:nvPr/>
        </p:nvSpPr>
        <p:spPr>
          <a:xfrm>
            <a:off x="414750" y="2369925"/>
            <a:ext cx="84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AwaazSetu shows that an </a:t>
            </a:r>
            <a:r>
              <a:rPr sz="1600" b="1">
                <a:solidFill>
                  <a:srgbClr val="000000"/>
                </a:solidFill>
                <a:latin typeface="Calibri"/>
              </a:rPr>
              <a:t>inclusive, multilingual, SMS- and voice-ready</a:t>
            </a:r>
            <a:r>
              <a:rPr sz="1600" b="0">
                <a:solidFill>
                  <a:srgbClr val="000000"/>
                </a:solidFill>
                <a:latin typeface="Calibri"/>
              </a:rPr>
              <a:t> channel can turn scattered flood reports into a </a:t>
            </a:r>
            <a:r>
              <a:rPr sz="1600" b="1">
                <a:solidFill>
                  <a:srgbClr val="000000"/>
                </a:solidFill>
                <a:latin typeface="Calibri"/>
              </a:rPr>
              <a:t>reviewed, located and prioritised</a:t>
            </a:r>
            <a:r>
              <a:rPr sz="1600" b="0">
                <a:solidFill>
                  <a:srgbClr val="000000"/>
                </a:solidFill>
                <a:latin typeface="Calibri"/>
              </a:rPr>
              <a:t> picture.</a:t>
            </a:r>
            <a:endParaRPr sz="22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Explained scores, conservative merging and </a:t>
            </a:r>
            <a:r>
              <a:rPr sz="1600" b="1">
                <a:solidFill>
                  <a:srgbClr val="000000"/>
                </a:solidFill>
                <a:latin typeface="Calibri"/>
              </a:rPr>
              <a:t>ask-don’t-guess</a:t>
            </a:r>
            <a:r>
              <a:rPr sz="1600" b="0">
                <a:solidFill>
                  <a:srgbClr val="000000"/>
                </a:solidFill>
                <a:latin typeface="Calibri"/>
              </a:rPr>
              <a:t> locations keep coordinators in control.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The coverage dashboard makes visible </a:t>
            </a:r>
            <a:r>
              <a:rPr sz="1600" b="1">
                <a:solidFill>
                  <a:srgbClr val="000000"/>
                </a:solidFill>
                <a:latin typeface="Calibri"/>
              </a:rPr>
              <a:t>who is still missing</a:t>
            </a:r>
            <a:r>
              <a:rPr sz="1600" b="0">
                <a:solidFill>
                  <a:srgbClr val="000000"/>
                </a:solidFill>
                <a:latin typeface="Calibri"/>
              </a:rPr>
              <a:t> from the data — the core gap found in the literature.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Calibri"/>
              </a:rPr>
              <a:t>Future work:</a:t>
            </a:r>
            <a:r>
              <a:rPr sz="1600" b="0">
                <a:solidFill>
                  <a:srgbClr val="000000"/>
                </a:solidFill>
                <a:latin typeface="Calibri"/>
              </a:rPr>
              <a:t> connect the Android SMS gateway and Telegram bot, run a supervised drill, measure Marathi speech accuracy and duplicate F1, and add phone-ownership verification.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9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/>
          <p:nvPr/>
        </p:nvSpPr>
        <p:spPr>
          <a:xfrm>
            <a:off x="1066801" y="2743200"/>
            <a:ext cx="632186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0" y="0"/>
            <a:ext cx="9144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Army Institute of Technology Pune</a:t>
            </a:r>
          </a:p>
          <a:p>
            <a:pPr lvl="0" algn="ctr"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90"/>
              <a:buNone/>
            </a:pPr>
            <a:fld id="{00000000-1234-1234-1234-123412341234}" type="slidenum">
              <a:rPr lang="en-US" sz="1190"/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90"/>
                <a:buNone/>
              </a:pPr>
              <a:t>10</a:t>
            </a:fld>
            <a:endParaRPr sz="1190"/>
          </a:p>
        </p:txBody>
      </p:sp>
      <p:sp>
        <p:nvSpPr>
          <p:cNvPr id="329" name="Google Shape;329;p13"/>
          <p:cNvSpPr txBox="1"/>
          <p:nvPr/>
        </p:nvSpPr>
        <p:spPr>
          <a:xfrm>
            <a:off x="-1762650" y="3377150"/>
            <a:ext cx="73350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56" y="88777"/>
            <a:ext cx="1185170" cy="10986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968" y="1"/>
            <a:ext cx="1231988" cy="12715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dian">
  <a:themeElements>
    <a:clrScheme name="Custom 4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000000"/>
      </a:hlink>
      <a:folHlink>
        <a:srgbClr val="775F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236</Words>
  <Application>Microsoft Office PowerPoint</Application>
  <PresentationFormat>On-screen Show (4:3)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Tahoma</vt:lpstr>
      <vt:lpstr>Noto Sans Symbols</vt:lpstr>
      <vt:lpstr>Cambria</vt:lpstr>
      <vt:lpstr>Rockwell</vt:lpstr>
      <vt:lpstr>Tw Cen MT</vt:lpstr>
      <vt:lpstr>Times New Roman</vt:lpstr>
      <vt:lpstr>Calibri</vt:lpstr>
      <vt:lpstr>Twentieth Century</vt:lpstr>
      <vt:lpstr>Median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Jiawei Han</dc:creator>
  <cp:lastModifiedBy>Dr Priya Nerkar</cp:lastModifiedBy>
  <cp:revision>22</cp:revision>
  <dcterms:created xsi:type="dcterms:W3CDTF">1999-12-01T22:01:55Z</dcterms:created>
  <dcterms:modified xsi:type="dcterms:W3CDTF">2026-10-22T06:44:23Z</dcterms:modified>
</cp:coreProperties>
</file>