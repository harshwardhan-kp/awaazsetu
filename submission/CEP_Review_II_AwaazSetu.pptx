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73" r:id="rId41"/>
    <p:sldId id="274" r:id="rId42"/>
    <p:sldId id="275" r:id="rId43"/>
    <p:sldId id="260" r:id="rId6"/>
    <p:sldId id="261" r:id="rId7"/>
    <p:sldId id="262" r:id="rId8"/>
    <p:sldId id="276" r:id="rId44"/>
    <p:sldId id="277" r:id="rId45"/>
    <p:sldId id="271" r:id="rId9"/>
    <p:sldId id="272" r:id="rId10"/>
    <p:sldId id="270" r:id="rId11"/>
  </p:sldIdLst>
  <p:sldSz cx="9144000" cy="6858000" type="screen4x3"/>
  <p:notesSz cx="7053263" cy="9309100"/>
  <p:embeddedFontLst>
    <p:embeddedFont>
      <p:font typeface="Tahoma" panose="020B0604030504040204" pitchFamily="34" charset="0"/>
      <p:regular r:id="rId13"/>
      <p:bold r:id="rId14"/>
    </p:embeddedFont>
    <p:embeddedFont>
      <p:font typeface="Cambria" panose="02040503050406030204" pitchFamily="18" charset="0"/>
      <p:regular r:id="rId15"/>
      <p:bold r:id="rId16"/>
      <p:italic r:id="rId17"/>
      <p:boldItalic r:id="rId18"/>
    </p:embeddedFont>
    <p:embeddedFont>
      <p:font typeface="Rockwell" panose="02060603020205020403" pitchFamily="18" charset="0"/>
      <p:regular r:id="rId19"/>
      <p:bold r:id="rId20"/>
      <p:italic r:id="rId21"/>
      <p:boldItalic r:id="rId22"/>
    </p:embeddedFont>
    <p:embeddedFont>
      <p:font typeface="Tw Cen MT" panose="020B0602020104020603" pitchFamily="34" charset="0"/>
      <p:regular r:id="rId23"/>
      <p:bold r:id="rId24"/>
      <p:italic r:id="rId25"/>
      <p:boldItalic r:id="rId26"/>
    </p:embeddedFont>
    <p:embeddedFont>
      <p:font typeface="Calibri" panose="020F0502020204030204" pitchFamily="34" charset="0"/>
      <p:regular r:id="rId27"/>
      <p:bold r:id="rId28"/>
      <p:italic r:id="rId29"/>
      <p:boldItalic r:id="rId3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932">
          <p15:clr>
            <a:srgbClr val="000000"/>
          </p15:clr>
        </p15:guide>
        <p15:guide id="2" pos="2222">
          <p15:clr>
            <a:srgbClr val="000000"/>
          </p15:clr>
        </p15:guide>
      </p15:notesGuideLst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36" roundtripDataSignature="AMtx7mi+1qNuFlpJW1BwGRTG0R+ePvzYD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48FA4B19-A9D0-47F7-9D78-609EB99368AB}">
  <a:tblStyle styleId="{48FA4B19-A9D0-47F7-9D78-609EB99368A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EF2F7"/>
          </a:solidFill>
        </a:fill>
      </a:tcStyle>
    </a:wholeTbl>
    <a:band1H>
      <a:tcTxStyle b="off" i="off"/>
      <a:tcStyle>
        <a:tcBdr/>
        <a:fill>
          <a:solidFill>
            <a:srgbClr val="DCE5EE"/>
          </a:solidFill>
        </a:fill>
      </a:tcStyle>
    </a:band1H>
    <a:band2H>
      <a:tcTxStyle b="off" i="off"/>
      <a:tcStyle>
        <a:tcBdr/>
      </a:tcStyle>
    </a:band2H>
    <a:band1V>
      <a:tcTxStyle b="off" i="off"/>
      <a:tcStyle>
        <a:tcBdr/>
        <a:fill>
          <a:solidFill>
            <a:srgbClr val="DCE5EE"/>
          </a:solidFill>
        </a:fill>
      </a:tcStyle>
    </a:band1V>
    <a:band2V>
      <a:tcTxStyle b="off" i="off"/>
      <a:tcStyle>
        <a:tcBdr/>
      </a:tcStyle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  <a:tblStyle styleId="{88E45771-5636-4804-AEA8-03ED5AEE82C1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5" d="100"/>
          <a:sy n="65" d="100"/>
        </p:scale>
        <p:origin x="1452" y="6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2932"/>
        <p:guide pos="2222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8.xml"/><Relationship Id="rId7" Type="http://schemas.openxmlformats.org/officeDocument/2006/relationships/slide" Target="slides/slide9.xml"/><Relationship Id="rId8" Type="http://schemas.openxmlformats.org/officeDocument/2006/relationships/slide" Target="slides/slide10.xml"/><Relationship Id="rId9" Type="http://schemas.openxmlformats.org/officeDocument/2006/relationships/slide" Target="slides/slide13.xml"/><Relationship Id="rId10" Type="http://schemas.openxmlformats.org/officeDocument/2006/relationships/slide" Target="slides/slide14.xml"/><Relationship Id="rId11" Type="http://schemas.openxmlformats.org/officeDocument/2006/relationships/slide" Target="slides/slide15.xml"/><Relationship Id="rId12" Type="http://schemas.openxmlformats.org/officeDocument/2006/relationships/notesMaster" Target="notesMasters/notesMaster1.xml"/><Relationship Id="rId13" Type="http://schemas.openxmlformats.org/officeDocument/2006/relationships/font" Target="fonts/font1.fntdata"/><Relationship Id="rId14" Type="http://schemas.openxmlformats.org/officeDocument/2006/relationships/font" Target="fonts/font2.fntdata"/><Relationship Id="rId15" Type="http://schemas.openxmlformats.org/officeDocument/2006/relationships/font" Target="fonts/font3.fntdata"/><Relationship Id="rId16" Type="http://schemas.openxmlformats.org/officeDocument/2006/relationships/font" Target="fonts/font4.fntdata"/><Relationship Id="rId17" Type="http://schemas.openxmlformats.org/officeDocument/2006/relationships/font" Target="fonts/font5.fntdata"/><Relationship Id="rId18" Type="http://schemas.openxmlformats.org/officeDocument/2006/relationships/font" Target="fonts/font6.fntdata"/><Relationship Id="rId19" Type="http://schemas.openxmlformats.org/officeDocument/2006/relationships/font" Target="fonts/font7.fntdata"/><Relationship Id="rId20" Type="http://schemas.openxmlformats.org/officeDocument/2006/relationships/font" Target="fonts/font8.fntdata"/><Relationship Id="rId21" Type="http://schemas.openxmlformats.org/officeDocument/2006/relationships/font" Target="fonts/font9.fntdata"/><Relationship Id="rId22" Type="http://schemas.openxmlformats.org/officeDocument/2006/relationships/font" Target="fonts/font10.fntdata"/><Relationship Id="rId23" Type="http://schemas.openxmlformats.org/officeDocument/2006/relationships/font" Target="fonts/font11.fntdata"/><Relationship Id="rId24" Type="http://schemas.openxmlformats.org/officeDocument/2006/relationships/font" Target="fonts/font12.fntdata"/><Relationship Id="rId25" Type="http://schemas.openxmlformats.org/officeDocument/2006/relationships/font" Target="fonts/font13.fntdata"/><Relationship Id="rId26" Type="http://schemas.openxmlformats.org/officeDocument/2006/relationships/font" Target="fonts/font14.fntdata"/><Relationship Id="rId27" Type="http://schemas.openxmlformats.org/officeDocument/2006/relationships/font" Target="fonts/font15.fntdata"/><Relationship Id="rId28" Type="http://schemas.openxmlformats.org/officeDocument/2006/relationships/font" Target="fonts/font16.fntdata"/><Relationship Id="rId29" Type="http://schemas.openxmlformats.org/officeDocument/2006/relationships/font" Target="fonts/font17.fntdata"/><Relationship Id="rId30" Type="http://schemas.openxmlformats.org/officeDocument/2006/relationships/font" Target="fonts/font18.fntdata"/><Relationship Id="rId36" Type="http://customschemas.google.com/relationships/presentationmetadata" Target="metadata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Relationship Id="rId41" Type="http://schemas.openxmlformats.org/officeDocument/2006/relationships/slide" Target="slides/slide5.xml"/><Relationship Id="rId42" Type="http://schemas.openxmlformats.org/officeDocument/2006/relationships/slide" Target="slides/slide6.xml"/><Relationship Id="rId43" Type="http://schemas.openxmlformats.org/officeDocument/2006/relationships/slide" Target="slides/slide7.xml"/><Relationship Id="rId44" Type="http://schemas.openxmlformats.org/officeDocument/2006/relationships/slide" Target="slides/slide11.xml"/><Relationship Id="rId45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75775" y="698175"/>
            <a:ext cx="4702400" cy="34909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705325" y="4421800"/>
            <a:ext cx="5642600" cy="418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66273301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698500"/>
            <a:ext cx="4654550" cy="3490913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112" name="Google Shape;112;p1:notes"/>
          <p:cNvSpPr txBox="1">
            <a:spLocks noGrp="1"/>
          </p:cNvSpPr>
          <p:nvPr>
            <p:ph type="body" idx="1"/>
          </p:nvPr>
        </p:nvSpPr>
        <p:spPr>
          <a:xfrm>
            <a:off x="941388" y="4422775"/>
            <a:ext cx="5170487" cy="4187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475" tIns="46725" rIns="93475" bIns="467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3" name="Google Shape;113;p1:notes"/>
          <p:cNvSpPr txBox="1">
            <a:spLocks noGrp="1"/>
          </p:cNvSpPr>
          <p:nvPr>
            <p:ph type="sldNum" idx="12"/>
          </p:nvPr>
        </p:nvSpPr>
        <p:spPr>
          <a:xfrm>
            <a:off x="3995738" y="8843963"/>
            <a:ext cx="3057525" cy="4651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475" tIns="46725" rIns="93475" bIns="46725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pPr marL="0" marR="0" lvl="0" indent="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t>1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1:notes"/>
          <p:cNvSpPr txBox="1">
            <a:spLocks noGrp="1"/>
          </p:cNvSpPr>
          <p:nvPr>
            <p:ph type="ftr" idx="11"/>
          </p:nvPr>
        </p:nvSpPr>
        <p:spPr>
          <a:xfrm>
            <a:off x="0" y="8843963"/>
            <a:ext cx="3057525" cy="4651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475" tIns="46725" rIns="93475" bIns="46725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RAJARSHI SHAHU COLLEGE OF ENGINEERING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:notes"/>
          <p:cNvSpPr txBox="1">
            <a:spLocks noGrp="1"/>
          </p:cNvSpPr>
          <p:nvPr>
            <p:ph type="body" idx="1"/>
          </p:nvPr>
        </p:nvSpPr>
        <p:spPr>
          <a:xfrm>
            <a:off x="705325" y="4421800"/>
            <a:ext cx="5642600" cy="418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24" name="Google Shape;12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698500"/>
            <a:ext cx="4654550" cy="3490913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3:notes"/>
          <p:cNvSpPr txBox="1">
            <a:spLocks noGrp="1"/>
          </p:cNvSpPr>
          <p:nvPr>
            <p:ph type="body" idx="1"/>
          </p:nvPr>
        </p:nvSpPr>
        <p:spPr>
          <a:xfrm>
            <a:off x="705325" y="4421800"/>
            <a:ext cx="5642600" cy="418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35" name="Google Shape;13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698500"/>
            <a:ext cx="4654550" cy="3490913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4:notes"/>
          <p:cNvSpPr txBox="1">
            <a:spLocks noGrp="1"/>
          </p:cNvSpPr>
          <p:nvPr>
            <p:ph type="body" idx="1"/>
          </p:nvPr>
        </p:nvSpPr>
        <p:spPr>
          <a:xfrm>
            <a:off x="705325" y="4421800"/>
            <a:ext cx="5642600" cy="418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47" name="Google Shape;147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698500"/>
            <a:ext cx="4654550" cy="3490913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5:notes"/>
          <p:cNvSpPr txBox="1">
            <a:spLocks noGrp="1"/>
          </p:cNvSpPr>
          <p:nvPr>
            <p:ph type="body" idx="1"/>
          </p:nvPr>
        </p:nvSpPr>
        <p:spPr>
          <a:xfrm>
            <a:off x="705325" y="4421800"/>
            <a:ext cx="5642600" cy="418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59" name="Google Shape;159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698500"/>
            <a:ext cx="4654550" cy="3490913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6:notes"/>
          <p:cNvSpPr txBox="1">
            <a:spLocks noGrp="1"/>
          </p:cNvSpPr>
          <p:nvPr>
            <p:ph type="body" idx="1"/>
          </p:nvPr>
        </p:nvSpPr>
        <p:spPr>
          <a:xfrm>
            <a:off x="705325" y="4421800"/>
            <a:ext cx="5642600" cy="418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71" name="Google Shape;17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698500"/>
            <a:ext cx="4654550" cy="3490913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b2289ff19e_3_37:notes"/>
          <p:cNvSpPr txBox="1">
            <a:spLocks noGrp="1"/>
          </p:cNvSpPr>
          <p:nvPr>
            <p:ph type="body" idx="1"/>
          </p:nvPr>
        </p:nvSpPr>
        <p:spPr>
          <a:xfrm>
            <a:off x="705325" y="4421800"/>
            <a:ext cx="5642700" cy="418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84" name="Google Shape;184;gb2289ff19e_3_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698500"/>
            <a:ext cx="4654550" cy="3490913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b2289ff19e_3_37:notes"/>
          <p:cNvSpPr txBox="1">
            <a:spLocks noGrp="1"/>
          </p:cNvSpPr>
          <p:nvPr>
            <p:ph type="body" idx="1"/>
          </p:nvPr>
        </p:nvSpPr>
        <p:spPr>
          <a:xfrm>
            <a:off x="705325" y="4421800"/>
            <a:ext cx="5642700" cy="418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84" name="Google Shape;184;gb2289ff19e_3_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698500"/>
            <a:ext cx="4654550" cy="3490913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3250527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b2289ff19e_3_37:notes"/>
          <p:cNvSpPr txBox="1">
            <a:spLocks noGrp="1"/>
          </p:cNvSpPr>
          <p:nvPr>
            <p:ph type="body" idx="1"/>
          </p:nvPr>
        </p:nvSpPr>
        <p:spPr>
          <a:xfrm>
            <a:off x="705325" y="4421800"/>
            <a:ext cx="5642700" cy="418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84" name="Google Shape;184;gb2289ff19e_3_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698500"/>
            <a:ext cx="4654550" cy="3490913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12493054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13:notes"/>
          <p:cNvSpPr txBox="1">
            <a:spLocks noGrp="1"/>
          </p:cNvSpPr>
          <p:nvPr>
            <p:ph type="body" idx="1"/>
          </p:nvPr>
        </p:nvSpPr>
        <p:spPr>
          <a:xfrm>
            <a:off x="705325" y="4421800"/>
            <a:ext cx="5642600" cy="418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20" name="Google Shape;320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698500"/>
            <a:ext cx="4654550" cy="3490913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15"/>
          <p:cNvSpPr txBox="1">
            <a:spLocks noGrp="1"/>
          </p:cNvSpPr>
          <p:nvPr>
            <p:ph type="title"/>
          </p:nvPr>
        </p:nvSpPr>
        <p:spPr>
          <a:xfrm>
            <a:off x="612648" y="228600"/>
            <a:ext cx="81534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15"/>
          <p:cNvSpPr txBox="1">
            <a:spLocks noGrp="1"/>
          </p:cNvSpPr>
          <p:nvPr>
            <p:ph type="body" idx="1"/>
          </p:nvPr>
        </p:nvSpPr>
        <p:spPr>
          <a:xfrm>
            <a:off x="612648" y="1600200"/>
            <a:ext cx="8153400" cy="44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9718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1080"/>
              <a:buChar char="◻"/>
              <a:defRPr/>
            </a:lvl1pPr>
            <a:lvl2pPr marL="914400" lvl="1" indent="-308610" algn="l">
              <a:lnSpc>
                <a:spcPct val="100000"/>
              </a:lnSpc>
              <a:spcBef>
                <a:spcPts val="550"/>
              </a:spcBef>
              <a:spcAft>
                <a:spcPts val="0"/>
              </a:spcAft>
              <a:buSzPts val="1260"/>
              <a:buChar char="?"/>
              <a:defRPr/>
            </a:lvl2pPr>
            <a:lvl3pPr marL="1371600" lvl="2" indent="-314325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350"/>
              <a:buChar char="■"/>
              <a:defRPr/>
            </a:lvl3pPr>
            <a:lvl4pPr marL="1828800" lvl="3" indent="-31432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350"/>
              <a:buChar char="■"/>
              <a:defRPr/>
            </a:lvl4pPr>
            <a:lvl5pPr marL="2286000" lvl="4" indent="-30289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70"/>
              <a:buChar char="■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9pPr>
          </a:lstStyle>
          <a:p>
            <a:endParaRPr/>
          </a:p>
        </p:txBody>
      </p:sp>
      <p:sp>
        <p:nvSpPr>
          <p:cNvPr id="17" name="Google Shape;17;p15"/>
          <p:cNvSpPr txBox="1">
            <a:spLocks noGrp="1"/>
          </p:cNvSpPr>
          <p:nvPr>
            <p:ph type="dt" idx="10"/>
          </p:nvPr>
        </p:nvSpPr>
        <p:spPr>
          <a:xfrm>
            <a:off x="6096000" y="6248400"/>
            <a:ext cx="26670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15"/>
          <p:cNvSpPr txBox="1">
            <a:spLocks noGrp="1"/>
          </p:cNvSpPr>
          <p:nvPr>
            <p:ph type="ftr" idx="11"/>
          </p:nvPr>
        </p:nvSpPr>
        <p:spPr>
          <a:xfrm>
            <a:off x="609600" y="6248400"/>
            <a:ext cx="542131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5"/>
          <p:cNvSpPr txBox="1">
            <a:spLocks noGrp="1"/>
          </p:cNvSpPr>
          <p:nvPr>
            <p:ph type="sldNum" idx="12"/>
          </p:nvPr>
        </p:nvSpPr>
        <p:spPr>
          <a:xfrm>
            <a:off x="0" y="1271588"/>
            <a:ext cx="533400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8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81534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8"/>
          <p:cNvSpPr txBox="1">
            <a:spLocks noGrp="1"/>
          </p:cNvSpPr>
          <p:nvPr>
            <p:ph type="body" idx="1"/>
          </p:nvPr>
        </p:nvSpPr>
        <p:spPr>
          <a:xfrm>
            <a:off x="609600" y="1589567"/>
            <a:ext cx="3886200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9718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1080"/>
              <a:buChar char="◻"/>
              <a:defRPr/>
            </a:lvl1pPr>
            <a:lvl2pPr marL="914400" lvl="1" indent="-308610" algn="l">
              <a:lnSpc>
                <a:spcPct val="100000"/>
              </a:lnSpc>
              <a:spcBef>
                <a:spcPts val="550"/>
              </a:spcBef>
              <a:spcAft>
                <a:spcPts val="0"/>
              </a:spcAft>
              <a:buSzPts val="1260"/>
              <a:buChar char="?"/>
              <a:defRPr/>
            </a:lvl2pPr>
            <a:lvl3pPr marL="1371600" lvl="2" indent="-314325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350"/>
              <a:buChar char="■"/>
              <a:defRPr/>
            </a:lvl3pPr>
            <a:lvl4pPr marL="1828800" lvl="3" indent="-31432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350"/>
              <a:buChar char="■"/>
              <a:defRPr/>
            </a:lvl4pPr>
            <a:lvl5pPr marL="2286000" lvl="4" indent="-30289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70"/>
              <a:buChar char="■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9pPr>
          </a:lstStyle>
          <a:p>
            <a:endParaRPr/>
          </a:p>
        </p:txBody>
      </p:sp>
      <p:sp>
        <p:nvSpPr>
          <p:cNvPr id="41" name="Google Shape;41;p18"/>
          <p:cNvSpPr txBox="1">
            <a:spLocks noGrp="1"/>
          </p:cNvSpPr>
          <p:nvPr>
            <p:ph type="body" idx="2"/>
          </p:nvPr>
        </p:nvSpPr>
        <p:spPr>
          <a:xfrm>
            <a:off x="4844901" y="1589567"/>
            <a:ext cx="3886200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9718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1080"/>
              <a:buChar char="◻"/>
              <a:defRPr/>
            </a:lvl1pPr>
            <a:lvl2pPr marL="914400" lvl="1" indent="-308610" algn="l">
              <a:lnSpc>
                <a:spcPct val="100000"/>
              </a:lnSpc>
              <a:spcBef>
                <a:spcPts val="550"/>
              </a:spcBef>
              <a:spcAft>
                <a:spcPts val="0"/>
              </a:spcAft>
              <a:buSzPts val="1260"/>
              <a:buChar char="?"/>
              <a:defRPr/>
            </a:lvl2pPr>
            <a:lvl3pPr marL="1371600" lvl="2" indent="-314325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350"/>
              <a:buChar char="■"/>
              <a:defRPr/>
            </a:lvl3pPr>
            <a:lvl4pPr marL="1828800" lvl="3" indent="-31432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350"/>
              <a:buChar char="■"/>
              <a:defRPr/>
            </a:lvl4pPr>
            <a:lvl5pPr marL="2286000" lvl="4" indent="-30289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70"/>
              <a:buChar char="■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9pPr>
          </a:lstStyle>
          <a:p>
            <a:endParaRPr/>
          </a:p>
        </p:txBody>
      </p:sp>
      <p:sp>
        <p:nvSpPr>
          <p:cNvPr id="42" name="Google Shape;42;p18"/>
          <p:cNvSpPr txBox="1">
            <a:spLocks noGrp="1"/>
          </p:cNvSpPr>
          <p:nvPr>
            <p:ph type="dt" idx="10"/>
          </p:nvPr>
        </p:nvSpPr>
        <p:spPr>
          <a:xfrm>
            <a:off x="6096000" y="6248400"/>
            <a:ext cx="26670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8"/>
          <p:cNvSpPr txBox="1">
            <a:spLocks noGrp="1"/>
          </p:cNvSpPr>
          <p:nvPr>
            <p:ph type="sldNum" idx="12"/>
          </p:nvPr>
        </p:nvSpPr>
        <p:spPr>
          <a:xfrm>
            <a:off x="0" y="1271588"/>
            <a:ext cx="533400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  <p:sp>
        <p:nvSpPr>
          <p:cNvPr id="44" name="Google Shape;44;p18"/>
          <p:cNvSpPr txBox="1">
            <a:spLocks noGrp="1"/>
          </p:cNvSpPr>
          <p:nvPr>
            <p:ph type="ftr" idx="11"/>
          </p:nvPr>
        </p:nvSpPr>
        <p:spPr>
          <a:xfrm>
            <a:off x="609600" y="6248400"/>
            <a:ext cx="542131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9"/>
          <p:cNvSpPr txBox="1">
            <a:spLocks noGrp="1"/>
          </p:cNvSpPr>
          <p:nvPr>
            <p:ph type="title"/>
          </p:nvPr>
        </p:nvSpPr>
        <p:spPr>
          <a:xfrm>
            <a:off x="533400" y="273050"/>
            <a:ext cx="8153400" cy="869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9"/>
          <p:cNvSpPr txBox="1">
            <a:spLocks noGrp="1"/>
          </p:cNvSpPr>
          <p:nvPr>
            <p:ph type="body" idx="1"/>
          </p:nvPr>
        </p:nvSpPr>
        <p:spPr>
          <a:xfrm>
            <a:off x="609600" y="2438400"/>
            <a:ext cx="3886200" cy="358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9718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1080"/>
              <a:buChar char="◻"/>
              <a:defRPr/>
            </a:lvl1pPr>
            <a:lvl2pPr marL="914400" lvl="1" indent="-308610" algn="l">
              <a:lnSpc>
                <a:spcPct val="100000"/>
              </a:lnSpc>
              <a:spcBef>
                <a:spcPts val="550"/>
              </a:spcBef>
              <a:spcAft>
                <a:spcPts val="0"/>
              </a:spcAft>
              <a:buSzPts val="1260"/>
              <a:buChar char="?"/>
              <a:defRPr/>
            </a:lvl2pPr>
            <a:lvl3pPr marL="1371600" lvl="2" indent="-314325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350"/>
              <a:buChar char="■"/>
              <a:defRPr/>
            </a:lvl3pPr>
            <a:lvl4pPr marL="1828800" lvl="3" indent="-31432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350"/>
              <a:buChar char="■"/>
              <a:defRPr/>
            </a:lvl4pPr>
            <a:lvl5pPr marL="2286000" lvl="4" indent="-30289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70"/>
              <a:buChar char="■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9pPr>
          </a:lstStyle>
          <a:p>
            <a:endParaRPr/>
          </a:p>
        </p:txBody>
      </p:sp>
      <p:sp>
        <p:nvSpPr>
          <p:cNvPr id="48" name="Google Shape;48;p19"/>
          <p:cNvSpPr txBox="1">
            <a:spLocks noGrp="1"/>
          </p:cNvSpPr>
          <p:nvPr>
            <p:ph type="body" idx="2"/>
          </p:nvPr>
        </p:nvSpPr>
        <p:spPr>
          <a:xfrm>
            <a:off x="4800600" y="2438400"/>
            <a:ext cx="3886200" cy="358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9718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1080"/>
              <a:buChar char="◻"/>
              <a:defRPr/>
            </a:lvl1pPr>
            <a:lvl2pPr marL="914400" lvl="1" indent="-308610" algn="l">
              <a:lnSpc>
                <a:spcPct val="100000"/>
              </a:lnSpc>
              <a:spcBef>
                <a:spcPts val="550"/>
              </a:spcBef>
              <a:spcAft>
                <a:spcPts val="0"/>
              </a:spcAft>
              <a:buSzPts val="1260"/>
              <a:buChar char="?"/>
              <a:defRPr/>
            </a:lvl2pPr>
            <a:lvl3pPr marL="1371600" lvl="2" indent="-314325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350"/>
              <a:buChar char="■"/>
              <a:defRPr/>
            </a:lvl3pPr>
            <a:lvl4pPr marL="1828800" lvl="3" indent="-31432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350"/>
              <a:buChar char="■"/>
              <a:defRPr/>
            </a:lvl4pPr>
            <a:lvl5pPr marL="2286000" lvl="4" indent="-30289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70"/>
              <a:buChar char="■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9pPr>
          </a:lstStyle>
          <a:p>
            <a:endParaRPr/>
          </a:p>
        </p:txBody>
      </p:sp>
      <p:sp>
        <p:nvSpPr>
          <p:cNvPr id="49" name="Google Shape;49;p19"/>
          <p:cNvSpPr txBox="1">
            <a:spLocks noGrp="1"/>
          </p:cNvSpPr>
          <p:nvPr>
            <p:ph type="body" idx="3"/>
          </p:nvPr>
        </p:nvSpPr>
        <p:spPr>
          <a:xfrm>
            <a:off x="609600" y="1752600"/>
            <a:ext cx="3886200" cy="6400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1200"/>
              <a:buFont typeface="Twentieth Century"/>
              <a:buNone/>
              <a:defRPr sz="2000" b="1">
                <a:solidFill>
                  <a:srgbClr val="FFFFFF"/>
                </a:solidFill>
              </a:defRPr>
            </a:lvl1pPr>
            <a:lvl2pPr marL="914400" lvl="1" indent="-308610" algn="l">
              <a:lnSpc>
                <a:spcPct val="100000"/>
              </a:lnSpc>
              <a:spcBef>
                <a:spcPts val="550"/>
              </a:spcBef>
              <a:spcAft>
                <a:spcPts val="0"/>
              </a:spcAft>
              <a:buSzPts val="1260"/>
              <a:buChar char="?"/>
              <a:defRPr/>
            </a:lvl2pPr>
            <a:lvl3pPr marL="1371600" lvl="2" indent="-314325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350"/>
              <a:buChar char="■"/>
              <a:defRPr/>
            </a:lvl3pPr>
            <a:lvl4pPr marL="1828800" lvl="3" indent="-31432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350"/>
              <a:buChar char="■"/>
              <a:defRPr/>
            </a:lvl4pPr>
            <a:lvl5pPr marL="2286000" lvl="4" indent="-30289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70"/>
              <a:buChar char="■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9pPr>
          </a:lstStyle>
          <a:p>
            <a:endParaRPr/>
          </a:p>
        </p:txBody>
      </p:sp>
      <p:sp>
        <p:nvSpPr>
          <p:cNvPr id="50" name="Google Shape;50;p19"/>
          <p:cNvSpPr txBox="1">
            <a:spLocks noGrp="1"/>
          </p:cNvSpPr>
          <p:nvPr>
            <p:ph type="body" idx="4"/>
          </p:nvPr>
        </p:nvSpPr>
        <p:spPr>
          <a:xfrm>
            <a:off x="4800600" y="1752600"/>
            <a:ext cx="3886200" cy="64008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1200"/>
              <a:buFont typeface="Twentieth Century"/>
              <a:buNone/>
              <a:defRPr sz="2000" b="1">
                <a:solidFill>
                  <a:srgbClr val="FFFFFF"/>
                </a:solidFill>
              </a:defRPr>
            </a:lvl1pPr>
            <a:lvl2pPr marL="914400" lvl="1" indent="-308610" algn="l">
              <a:lnSpc>
                <a:spcPct val="100000"/>
              </a:lnSpc>
              <a:spcBef>
                <a:spcPts val="550"/>
              </a:spcBef>
              <a:spcAft>
                <a:spcPts val="0"/>
              </a:spcAft>
              <a:buSzPts val="1260"/>
              <a:buChar char="?"/>
              <a:defRPr/>
            </a:lvl2pPr>
            <a:lvl3pPr marL="1371600" lvl="2" indent="-314325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350"/>
              <a:buChar char="■"/>
              <a:defRPr/>
            </a:lvl3pPr>
            <a:lvl4pPr marL="1828800" lvl="3" indent="-31432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350"/>
              <a:buChar char="■"/>
              <a:defRPr/>
            </a:lvl4pPr>
            <a:lvl5pPr marL="2286000" lvl="4" indent="-30289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70"/>
              <a:buChar char="■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9pPr>
          </a:lstStyle>
          <a:p>
            <a:endParaRPr/>
          </a:p>
        </p:txBody>
      </p:sp>
      <p:sp>
        <p:nvSpPr>
          <p:cNvPr id="51" name="Google Shape;51;p19"/>
          <p:cNvSpPr txBox="1">
            <a:spLocks noGrp="1"/>
          </p:cNvSpPr>
          <p:nvPr>
            <p:ph type="dt" idx="10"/>
          </p:nvPr>
        </p:nvSpPr>
        <p:spPr>
          <a:xfrm>
            <a:off x="6096000" y="6248400"/>
            <a:ext cx="26670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9"/>
          <p:cNvSpPr txBox="1">
            <a:spLocks noGrp="1"/>
          </p:cNvSpPr>
          <p:nvPr>
            <p:ph type="sldNum" idx="12"/>
          </p:nvPr>
        </p:nvSpPr>
        <p:spPr>
          <a:xfrm>
            <a:off x="0" y="1271588"/>
            <a:ext cx="533400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  <p:sp>
        <p:nvSpPr>
          <p:cNvPr id="53" name="Google Shape;53;p19"/>
          <p:cNvSpPr txBox="1">
            <a:spLocks noGrp="1"/>
          </p:cNvSpPr>
          <p:nvPr>
            <p:ph type="ftr" idx="11"/>
          </p:nvPr>
        </p:nvSpPr>
        <p:spPr>
          <a:xfrm>
            <a:off x="609600" y="6248400"/>
            <a:ext cx="542131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0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81534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0"/>
          <p:cNvSpPr txBox="1">
            <a:spLocks noGrp="1"/>
          </p:cNvSpPr>
          <p:nvPr>
            <p:ph type="dt" idx="10"/>
          </p:nvPr>
        </p:nvSpPr>
        <p:spPr>
          <a:xfrm>
            <a:off x="6096000" y="6248400"/>
            <a:ext cx="26670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0"/>
          <p:cNvSpPr txBox="1">
            <a:spLocks noGrp="1"/>
          </p:cNvSpPr>
          <p:nvPr>
            <p:ph type="ftr" idx="11"/>
          </p:nvPr>
        </p:nvSpPr>
        <p:spPr>
          <a:xfrm>
            <a:off x="609600" y="6248400"/>
            <a:ext cx="542131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0"/>
          <p:cNvSpPr txBox="1">
            <a:spLocks noGrp="1"/>
          </p:cNvSpPr>
          <p:nvPr>
            <p:ph type="sldNum" idx="12"/>
          </p:nvPr>
        </p:nvSpPr>
        <p:spPr>
          <a:xfrm>
            <a:off x="0" y="1271588"/>
            <a:ext cx="533400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1"/>
          <p:cNvSpPr txBox="1">
            <a:spLocks noGrp="1"/>
          </p:cNvSpPr>
          <p:nvPr>
            <p:ph type="dt" idx="10"/>
          </p:nvPr>
        </p:nvSpPr>
        <p:spPr>
          <a:xfrm>
            <a:off x="6096000" y="6248400"/>
            <a:ext cx="26670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1"/>
          <p:cNvSpPr txBox="1">
            <a:spLocks noGrp="1"/>
          </p:cNvSpPr>
          <p:nvPr>
            <p:ph type="ftr" idx="11"/>
          </p:nvPr>
        </p:nvSpPr>
        <p:spPr>
          <a:xfrm>
            <a:off x="609600" y="6248400"/>
            <a:ext cx="542131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21"/>
          <p:cNvSpPr txBox="1">
            <a:spLocks noGrp="1"/>
          </p:cNvSpPr>
          <p:nvPr>
            <p:ph type="sldNum" idx="12"/>
          </p:nvPr>
        </p:nvSpPr>
        <p:spPr>
          <a:xfrm>
            <a:off x="0" y="6248400"/>
            <a:ext cx="5334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22"/>
          <p:cNvSpPr txBox="1">
            <a:spLocks noGrp="1"/>
          </p:cNvSpPr>
          <p:nvPr>
            <p:ph type="title"/>
          </p:nvPr>
        </p:nvSpPr>
        <p:spPr>
          <a:xfrm>
            <a:off x="609600" y="273050"/>
            <a:ext cx="8077200" cy="869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wentieth Century"/>
              <a:buNone/>
              <a:defRPr sz="4400" b="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2"/>
          <p:cNvSpPr txBox="1">
            <a:spLocks noGrp="1"/>
          </p:cNvSpPr>
          <p:nvPr>
            <p:ph type="body" idx="1"/>
          </p:nvPr>
        </p:nvSpPr>
        <p:spPr>
          <a:xfrm>
            <a:off x="609600" y="1752600"/>
            <a:ext cx="1600200" cy="4343400"/>
          </a:xfrm>
          <a:prstGeom prst="rect">
            <a:avLst/>
          </a:prstGeom>
          <a:solidFill>
            <a:schemeClr val="accent2"/>
          </a:solidFill>
          <a:ln w="50800" cap="sq" cmpd="dbl">
            <a:solidFill>
              <a:schemeClr val="accent2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37150" tIns="182875" rIns="137150" bIns="91425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1080"/>
              <a:buNone/>
              <a:defRPr sz="18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marL="914400" lvl="1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840"/>
              <a:buNone/>
              <a:defRPr sz="12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marL="1371600" lvl="2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750"/>
              <a:buNone/>
              <a:defRPr sz="1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marL="1828800" lvl="3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75"/>
              <a:buNone/>
              <a:defRPr sz="9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marL="2286000" lvl="4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85"/>
              <a:buNone/>
              <a:defRPr sz="9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9pPr>
          </a:lstStyle>
          <a:p>
            <a:endParaRPr/>
          </a:p>
        </p:txBody>
      </p:sp>
      <p:sp>
        <p:nvSpPr>
          <p:cNvPr id="66" name="Google Shape;66;p22"/>
          <p:cNvSpPr txBox="1">
            <a:spLocks noGrp="1"/>
          </p:cNvSpPr>
          <p:nvPr>
            <p:ph type="body" idx="2"/>
          </p:nvPr>
        </p:nvSpPr>
        <p:spPr>
          <a:xfrm>
            <a:off x="2362200" y="1752600"/>
            <a:ext cx="6400800" cy="44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9718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1080"/>
              <a:buChar char="◻"/>
              <a:defRPr/>
            </a:lvl1pPr>
            <a:lvl2pPr marL="914400" lvl="1" indent="-308610" algn="l">
              <a:lnSpc>
                <a:spcPct val="100000"/>
              </a:lnSpc>
              <a:spcBef>
                <a:spcPts val="550"/>
              </a:spcBef>
              <a:spcAft>
                <a:spcPts val="0"/>
              </a:spcAft>
              <a:buSzPts val="1260"/>
              <a:buChar char="?"/>
              <a:defRPr/>
            </a:lvl2pPr>
            <a:lvl3pPr marL="1371600" lvl="2" indent="-314325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350"/>
              <a:buChar char="■"/>
              <a:defRPr/>
            </a:lvl3pPr>
            <a:lvl4pPr marL="1828800" lvl="3" indent="-31432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350"/>
              <a:buChar char="■"/>
              <a:defRPr/>
            </a:lvl4pPr>
            <a:lvl5pPr marL="2286000" lvl="4" indent="-30289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70"/>
              <a:buChar char="■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9pPr>
          </a:lstStyle>
          <a:p>
            <a:endParaRPr/>
          </a:p>
        </p:txBody>
      </p:sp>
      <p:sp>
        <p:nvSpPr>
          <p:cNvPr id="67" name="Google Shape;67;p22"/>
          <p:cNvSpPr txBox="1">
            <a:spLocks noGrp="1"/>
          </p:cNvSpPr>
          <p:nvPr>
            <p:ph type="dt" idx="10"/>
          </p:nvPr>
        </p:nvSpPr>
        <p:spPr>
          <a:xfrm>
            <a:off x="6096000" y="6248400"/>
            <a:ext cx="26670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2"/>
          <p:cNvSpPr txBox="1">
            <a:spLocks noGrp="1"/>
          </p:cNvSpPr>
          <p:nvPr>
            <p:ph type="ftr" idx="11"/>
          </p:nvPr>
        </p:nvSpPr>
        <p:spPr>
          <a:xfrm>
            <a:off x="609600" y="6248400"/>
            <a:ext cx="542131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22"/>
          <p:cNvSpPr txBox="1">
            <a:spLocks noGrp="1"/>
          </p:cNvSpPr>
          <p:nvPr>
            <p:ph type="sldNum" idx="12"/>
          </p:nvPr>
        </p:nvSpPr>
        <p:spPr>
          <a:xfrm>
            <a:off x="0" y="1271588"/>
            <a:ext cx="533400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Picture with Caption" type="picTx">
  <p:cSld name="PICTURE_WITH_CAPTION_TEX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23"/>
          <p:cNvSpPr/>
          <p:nvPr/>
        </p:nvSpPr>
        <p:spPr>
          <a:xfrm>
            <a:off x="-9525" y="4572000"/>
            <a:ext cx="9144000" cy="88741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endParaRPr sz="2800" b="0" i="0" u="none" strike="noStrike" cap="non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72" name="Google Shape;72;p23"/>
          <p:cNvSpPr/>
          <p:nvPr/>
        </p:nvSpPr>
        <p:spPr>
          <a:xfrm>
            <a:off x="-9525" y="4664075"/>
            <a:ext cx="1463675" cy="7127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endParaRPr sz="2800" b="0" i="0" u="none" strike="noStrike" cap="non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73" name="Google Shape;73;p23"/>
          <p:cNvSpPr/>
          <p:nvPr/>
        </p:nvSpPr>
        <p:spPr>
          <a:xfrm>
            <a:off x="1544638" y="4654550"/>
            <a:ext cx="7599362" cy="7127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endParaRPr sz="2800" b="0" i="0" u="none" strike="noStrike" cap="non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74" name="Google Shape;74;p23"/>
          <p:cNvSpPr/>
          <p:nvPr/>
        </p:nvSpPr>
        <p:spPr>
          <a:xfrm>
            <a:off x="1447800" y="0"/>
            <a:ext cx="100013" cy="6867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endParaRPr sz="2800" b="0" i="0" u="none" strike="noStrike" cap="non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75" name="Google Shape;75;p23"/>
          <p:cNvSpPr txBox="1">
            <a:spLocks noGrp="1"/>
          </p:cNvSpPr>
          <p:nvPr>
            <p:ph type="body" idx="1"/>
          </p:nvPr>
        </p:nvSpPr>
        <p:spPr>
          <a:xfrm>
            <a:off x="1600200" y="5486400"/>
            <a:ext cx="73152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1020"/>
              <a:buFont typeface="Twentieth Century"/>
              <a:buNone/>
              <a:defRPr sz="1700"/>
            </a:lvl1pPr>
            <a:lvl2pPr marL="914400" lvl="1" indent="-228600" algn="l">
              <a:lnSpc>
                <a:spcPct val="100000"/>
              </a:lnSpc>
              <a:spcBef>
                <a:spcPts val="550"/>
              </a:spcBef>
              <a:spcAft>
                <a:spcPts val="0"/>
              </a:spcAft>
              <a:buSzPts val="840"/>
              <a:buFont typeface="Twentieth Century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750"/>
              <a:buFont typeface="Twentieth Century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75"/>
              <a:buFont typeface="Twentieth Century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85"/>
              <a:buFont typeface="Twentieth Century"/>
              <a:buNone/>
              <a:defRPr sz="9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9pPr>
          </a:lstStyle>
          <a:p>
            <a:endParaRPr/>
          </a:p>
        </p:txBody>
      </p:sp>
      <p:sp>
        <p:nvSpPr>
          <p:cNvPr id="76" name="Google Shape;76;p23"/>
          <p:cNvSpPr txBox="1">
            <a:spLocks noGrp="1"/>
          </p:cNvSpPr>
          <p:nvPr>
            <p:ph type="title"/>
          </p:nvPr>
        </p:nvSpPr>
        <p:spPr>
          <a:xfrm>
            <a:off x="1600200" y="4648200"/>
            <a:ext cx="73152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Twentieth Century"/>
              <a:buNone/>
              <a:defRPr sz="2800" b="0">
                <a:solidFill>
                  <a:srgbClr val="FFFFF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3"/>
          <p:cNvSpPr>
            <a:spLocks noGrp="1"/>
          </p:cNvSpPr>
          <p:nvPr>
            <p:ph type="pic" idx="2"/>
          </p:nvPr>
        </p:nvSpPr>
        <p:spPr>
          <a:xfrm>
            <a:off x="1560576" y="0"/>
            <a:ext cx="7583424" cy="4568952"/>
          </a:xfrm>
          <a:prstGeom prst="rect">
            <a:avLst/>
          </a:prstGeom>
          <a:solidFill>
            <a:srgbClr val="DCE5EE"/>
          </a:solidFill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chemeClr val="accent2"/>
              </a:buClr>
              <a:buSzPts val="1920"/>
              <a:buFont typeface="Noto Sans Symbols"/>
              <a:buNone/>
              <a:defRPr sz="32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marR="0" lvl="1" algn="l" rtl="0">
              <a:lnSpc>
                <a:spcPct val="100000"/>
              </a:lnSpc>
              <a:spcBef>
                <a:spcPts val="550"/>
              </a:spcBef>
              <a:spcAft>
                <a:spcPts val="0"/>
              </a:spcAft>
              <a:buClr>
                <a:schemeClr val="accent1"/>
              </a:buClr>
              <a:buSzPts val="1820"/>
              <a:buFont typeface="Noto Sans Symbols"/>
              <a:buChar char="🞑"/>
              <a:defRPr sz="26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marR="0" lvl="2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2"/>
              </a:buClr>
              <a:buSzPts val="1725"/>
              <a:buFont typeface="Noto Sans Symbols"/>
              <a:buChar char="■"/>
              <a:defRPr sz="23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marR="0" lvl="3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A5AB81"/>
              </a:buClr>
              <a:buSzPts val="15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marR="0" lvl="4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D8B25C"/>
              </a:buClr>
              <a:buSzPts val="13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marR="0" lvl="5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 sz="18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marR="0" lvl="6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Noto Sans Symbols"/>
              <a:buChar char="▪"/>
              <a:defRPr sz="18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marR="0" lvl="7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Noto Sans Symbols"/>
              <a:buChar char="▪"/>
              <a:defRPr sz="18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marR="0" lvl="8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4"/>
              </a:buClr>
              <a:buSzPts val="1800"/>
              <a:buFont typeface="Noto Sans Symbols"/>
              <a:buChar char="▪"/>
              <a:defRPr sz="18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endParaRPr/>
          </a:p>
        </p:txBody>
      </p:sp>
      <p:sp>
        <p:nvSpPr>
          <p:cNvPr id="78" name="Google Shape;78;p23"/>
          <p:cNvSpPr txBox="1">
            <a:spLocks noGrp="1"/>
          </p:cNvSpPr>
          <p:nvPr>
            <p:ph type="dt" idx="10"/>
          </p:nvPr>
        </p:nvSpPr>
        <p:spPr>
          <a:xfrm>
            <a:off x="6248400" y="6248400"/>
            <a:ext cx="26670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3"/>
          <p:cNvSpPr txBox="1">
            <a:spLocks noGrp="1"/>
          </p:cNvSpPr>
          <p:nvPr>
            <p:ph type="sldNum" idx="12"/>
          </p:nvPr>
        </p:nvSpPr>
        <p:spPr>
          <a:xfrm>
            <a:off x="0" y="4667250"/>
            <a:ext cx="1447800" cy="663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  <p:sp>
        <p:nvSpPr>
          <p:cNvPr id="80" name="Google Shape;80;p23"/>
          <p:cNvSpPr txBox="1">
            <a:spLocks noGrp="1"/>
          </p:cNvSpPr>
          <p:nvPr>
            <p:ph type="ftr" idx="11"/>
          </p:nvPr>
        </p:nvSpPr>
        <p:spPr>
          <a:xfrm>
            <a:off x="1600200" y="6248400"/>
            <a:ext cx="45720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4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81534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4"/>
          <p:cNvSpPr txBox="1">
            <a:spLocks noGrp="1"/>
          </p:cNvSpPr>
          <p:nvPr>
            <p:ph type="body" idx="1"/>
          </p:nvPr>
        </p:nvSpPr>
        <p:spPr>
          <a:xfrm rot="5400000">
            <a:off x="2426494" y="-213518"/>
            <a:ext cx="4525963" cy="815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9718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1080"/>
              <a:buChar char="◻"/>
              <a:defRPr/>
            </a:lvl1pPr>
            <a:lvl2pPr marL="914400" lvl="1" indent="-308610" algn="l">
              <a:lnSpc>
                <a:spcPct val="100000"/>
              </a:lnSpc>
              <a:spcBef>
                <a:spcPts val="550"/>
              </a:spcBef>
              <a:spcAft>
                <a:spcPts val="0"/>
              </a:spcAft>
              <a:buSzPts val="1260"/>
              <a:buChar char="?"/>
              <a:defRPr/>
            </a:lvl2pPr>
            <a:lvl3pPr marL="1371600" lvl="2" indent="-314325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350"/>
              <a:buChar char="■"/>
              <a:defRPr/>
            </a:lvl3pPr>
            <a:lvl4pPr marL="1828800" lvl="3" indent="-31432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350"/>
              <a:buChar char="■"/>
              <a:defRPr/>
            </a:lvl4pPr>
            <a:lvl5pPr marL="2286000" lvl="4" indent="-30289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70"/>
              <a:buChar char="■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9pPr>
          </a:lstStyle>
          <a:p>
            <a:endParaRPr/>
          </a:p>
        </p:txBody>
      </p:sp>
      <p:sp>
        <p:nvSpPr>
          <p:cNvPr id="84" name="Google Shape;84;p24"/>
          <p:cNvSpPr txBox="1">
            <a:spLocks noGrp="1"/>
          </p:cNvSpPr>
          <p:nvPr>
            <p:ph type="dt" idx="10"/>
          </p:nvPr>
        </p:nvSpPr>
        <p:spPr>
          <a:xfrm>
            <a:off x="6096000" y="6248400"/>
            <a:ext cx="26670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24"/>
          <p:cNvSpPr txBox="1">
            <a:spLocks noGrp="1"/>
          </p:cNvSpPr>
          <p:nvPr>
            <p:ph type="ftr" idx="11"/>
          </p:nvPr>
        </p:nvSpPr>
        <p:spPr>
          <a:xfrm>
            <a:off x="609600" y="6248400"/>
            <a:ext cx="542131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24"/>
          <p:cNvSpPr txBox="1">
            <a:spLocks noGrp="1"/>
          </p:cNvSpPr>
          <p:nvPr>
            <p:ph type="sldNum" idx="12"/>
          </p:nvPr>
        </p:nvSpPr>
        <p:spPr>
          <a:xfrm>
            <a:off x="0" y="1271588"/>
            <a:ext cx="533400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Vertical Title and Text" type="vertTitleAndTx">
  <p:cSld name="VERTICAL_TITLE_AND_VERTICAL_TEXT"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5"/>
          <p:cNvSpPr/>
          <p:nvPr/>
        </p:nvSpPr>
        <p:spPr>
          <a:xfrm>
            <a:off x="6096000" y="0"/>
            <a:ext cx="32067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endParaRPr sz="2800" b="0" i="0" u="none" strike="noStrike" cap="non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89" name="Google Shape;89;p25"/>
          <p:cNvSpPr/>
          <p:nvPr/>
        </p:nvSpPr>
        <p:spPr>
          <a:xfrm>
            <a:off x="6142038" y="609600"/>
            <a:ext cx="228600" cy="6248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endParaRPr sz="2800" b="0" i="0" u="none" strike="noStrike" cap="non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90" name="Google Shape;90;p25"/>
          <p:cNvSpPr/>
          <p:nvPr/>
        </p:nvSpPr>
        <p:spPr>
          <a:xfrm>
            <a:off x="6142038" y="0"/>
            <a:ext cx="228600" cy="533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endParaRPr sz="2800" b="0" i="0" u="none" strike="noStrike" cap="non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91" name="Google Shape;91;p25"/>
          <p:cNvSpPr txBox="1">
            <a:spLocks noGrp="1"/>
          </p:cNvSpPr>
          <p:nvPr>
            <p:ph type="title"/>
          </p:nvPr>
        </p:nvSpPr>
        <p:spPr>
          <a:xfrm rot="5400000">
            <a:off x="4823619" y="2339181"/>
            <a:ext cx="5516563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25"/>
          <p:cNvSpPr txBox="1">
            <a:spLocks noGrp="1"/>
          </p:cNvSpPr>
          <p:nvPr>
            <p:ph type="body" idx="1"/>
          </p:nvPr>
        </p:nvSpPr>
        <p:spPr>
          <a:xfrm rot="5400000">
            <a:off x="480218" y="586582"/>
            <a:ext cx="5516564" cy="556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9718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1080"/>
              <a:buChar char="◻"/>
              <a:defRPr/>
            </a:lvl1pPr>
            <a:lvl2pPr marL="914400" lvl="1" indent="-308610" algn="l">
              <a:lnSpc>
                <a:spcPct val="100000"/>
              </a:lnSpc>
              <a:spcBef>
                <a:spcPts val="550"/>
              </a:spcBef>
              <a:spcAft>
                <a:spcPts val="0"/>
              </a:spcAft>
              <a:buSzPts val="1260"/>
              <a:buChar char="?"/>
              <a:defRPr/>
            </a:lvl2pPr>
            <a:lvl3pPr marL="1371600" lvl="2" indent="-314325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350"/>
              <a:buChar char="■"/>
              <a:defRPr/>
            </a:lvl3pPr>
            <a:lvl4pPr marL="1828800" lvl="3" indent="-31432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350"/>
              <a:buChar char="■"/>
              <a:defRPr/>
            </a:lvl4pPr>
            <a:lvl5pPr marL="2286000" lvl="4" indent="-30289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70"/>
              <a:buChar char="■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9pPr>
          </a:lstStyle>
          <a:p>
            <a:endParaRPr/>
          </a:p>
        </p:txBody>
      </p:sp>
      <p:sp>
        <p:nvSpPr>
          <p:cNvPr id="93" name="Google Shape;93;p25"/>
          <p:cNvSpPr txBox="1">
            <a:spLocks noGrp="1"/>
          </p:cNvSpPr>
          <p:nvPr>
            <p:ph type="dt" idx="10"/>
          </p:nvPr>
        </p:nvSpPr>
        <p:spPr>
          <a:xfrm>
            <a:off x="6553200" y="6248400"/>
            <a:ext cx="2209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25"/>
          <p:cNvSpPr txBox="1">
            <a:spLocks noGrp="1"/>
          </p:cNvSpPr>
          <p:nvPr>
            <p:ph type="ftr" idx="11"/>
          </p:nvPr>
        </p:nvSpPr>
        <p:spPr>
          <a:xfrm>
            <a:off x="457200" y="6248400"/>
            <a:ext cx="557371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25"/>
          <p:cNvSpPr txBox="1">
            <a:spLocks noGrp="1"/>
          </p:cNvSpPr>
          <p:nvPr>
            <p:ph type="sldNum" idx="12"/>
          </p:nvPr>
        </p:nvSpPr>
        <p:spPr>
          <a:xfrm rot="5400000">
            <a:off x="5989638" y="144462"/>
            <a:ext cx="533400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Comparison">
  <p:cSld name="1_Comparison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6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1440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550"/>
              </a:spcBef>
              <a:spcAft>
                <a:spcPts val="0"/>
              </a:spcAft>
              <a:buSzPts val="14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35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04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98" name="Google Shape;98;p26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2004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1440"/>
              <a:buChar char="◻"/>
              <a:defRPr sz="2400"/>
            </a:lvl1pPr>
            <a:lvl2pPr marL="914400" lvl="1" indent="-317500" algn="l">
              <a:lnSpc>
                <a:spcPct val="100000"/>
              </a:lnSpc>
              <a:spcBef>
                <a:spcPts val="550"/>
              </a:spcBef>
              <a:spcAft>
                <a:spcPts val="0"/>
              </a:spcAft>
              <a:buSzPts val="1400"/>
              <a:buChar char="?"/>
              <a:defRPr sz="2000"/>
            </a:lvl2pPr>
            <a:lvl3pPr marL="1371600" lvl="2" indent="-314325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350"/>
              <a:buChar char="■"/>
              <a:defRPr sz="1800"/>
            </a:lvl3pPr>
            <a:lvl4pPr marL="1828800" lvl="3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600"/>
            </a:lvl4pPr>
            <a:lvl5pPr marL="2286000" lvl="4" indent="-294639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040"/>
              <a:buChar char="■"/>
              <a:defRPr sz="1600"/>
            </a:lvl5pPr>
            <a:lvl6pPr marL="2743200" lvl="5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Char char="▪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Char char="▪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Char char="▪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Char char="▪"/>
              <a:defRPr sz="1600"/>
            </a:lvl9pPr>
          </a:lstStyle>
          <a:p>
            <a:endParaRPr/>
          </a:p>
        </p:txBody>
      </p:sp>
      <p:sp>
        <p:nvSpPr>
          <p:cNvPr id="99" name="Google Shape;99;p26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1440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550"/>
              </a:spcBef>
              <a:spcAft>
                <a:spcPts val="0"/>
              </a:spcAft>
              <a:buSzPts val="14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35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04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00" name="Google Shape;100;p26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2004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1440"/>
              <a:buChar char="◻"/>
              <a:defRPr sz="2400"/>
            </a:lvl1pPr>
            <a:lvl2pPr marL="914400" lvl="1" indent="-317500" algn="l">
              <a:lnSpc>
                <a:spcPct val="100000"/>
              </a:lnSpc>
              <a:spcBef>
                <a:spcPts val="550"/>
              </a:spcBef>
              <a:spcAft>
                <a:spcPts val="0"/>
              </a:spcAft>
              <a:buSzPts val="1400"/>
              <a:buChar char="?"/>
              <a:defRPr sz="2000"/>
            </a:lvl2pPr>
            <a:lvl3pPr marL="1371600" lvl="2" indent="-314325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350"/>
              <a:buChar char="■"/>
              <a:defRPr sz="1800"/>
            </a:lvl3pPr>
            <a:lvl4pPr marL="1828800" lvl="3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600"/>
            </a:lvl4pPr>
            <a:lvl5pPr marL="2286000" lvl="4" indent="-294639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040"/>
              <a:buChar char="■"/>
              <a:defRPr sz="1600"/>
            </a:lvl5pPr>
            <a:lvl6pPr marL="2743200" lvl="5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Char char="▪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Char char="▪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Char char="▪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Char char="▪"/>
              <a:defRPr sz="1600"/>
            </a:lvl9pPr>
          </a:lstStyle>
          <a:p>
            <a:endParaRPr/>
          </a:p>
        </p:txBody>
      </p:sp>
      <p:sp>
        <p:nvSpPr>
          <p:cNvPr id="101" name="Google Shape;101;p26"/>
          <p:cNvSpPr txBox="1">
            <a:spLocks noGrp="1"/>
          </p:cNvSpPr>
          <p:nvPr>
            <p:ph type="dt" idx="10"/>
          </p:nvPr>
        </p:nvSpPr>
        <p:spPr>
          <a:xfrm>
            <a:off x="6096000" y="6248400"/>
            <a:ext cx="26670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" name="Google Shape;102;p26"/>
          <p:cNvSpPr txBox="1">
            <a:spLocks noGrp="1"/>
          </p:cNvSpPr>
          <p:nvPr>
            <p:ph type="ftr" idx="11"/>
          </p:nvPr>
        </p:nvSpPr>
        <p:spPr>
          <a:xfrm>
            <a:off x="609600" y="6248400"/>
            <a:ext cx="542131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3" name="Google Shape;103;p26"/>
          <p:cNvSpPr txBox="1">
            <a:spLocks noGrp="1"/>
          </p:cNvSpPr>
          <p:nvPr>
            <p:ph type="sldNum" idx="12"/>
          </p:nvPr>
        </p:nvSpPr>
        <p:spPr>
          <a:xfrm>
            <a:off x="0" y="1271588"/>
            <a:ext cx="533400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Picture with Caption">
  <p:cSld name="1_Picture with Caption"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7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6" name="Google Shape;106;p27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84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550"/>
              </a:spcBef>
              <a:spcAft>
                <a:spcPts val="0"/>
              </a:spcAft>
              <a:buSzPts val="84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75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75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85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107" name="Google Shape;107;p27"/>
          <p:cNvSpPr txBox="1">
            <a:spLocks noGrp="1"/>
          </p:cNvSpPr>
          <p:nvPr>
            <p:ph type="dt" idx="10"/>
          </p:nvPr>
        </p:nvSpPr>
        <p:spPr>
          <a:xfrm>
            <a:off x="6096000" y="6248400"/>
            <a:ext cx="26670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27"/>
          <p:cNvSpPr txBox="1">
            <a:spLocks noGrp="1"/>
          </p:cNvSpPr>
          <p:nvPr>
            <p:ph type="ftr" idx="11"/>
          </p:nvPr>
        </p:nvSpPr>
        <p:spPr>
          <a:xfrm>
            <a:off x="609600" y="6248400"/>
            <a:ext cx="542131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9" name="Google Shape;109;p27"/>
          <p:cNvSpPr txBox="1">
            <a:spLocks noGrp="1"/>
          </p:cNvSpPr>
          <p:nvPr>
            <p:ph type="sldNum" idx="12"/>
          </p:nvPr>
        </p:nvSpPr>
        <p:spPr>
          <a:xfrm>
            <a:off x="0" y="1271588"/>
            <a:ext cx="533400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4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81534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endParaRPr/>
          </a:p>
        </p:txBody>
      </p:sp>
      <p:sp>
        <p:nvSpPr>
          <p:cNvPr id="7" name="Google Shape;7;p14"/>
          <p:cNvSpPr txBox="1">
            <a:spLocks noGrp="1"/>
          </p:cNvSpPr>
          <p:nvPr>
            <p:ph type="body" idx="1"/>
          </p:nvPr>
        </p:nvSpPr>
        <p:spPr>
          <a:xfrm>
            <a:off x="612775" y="1600200"/>
            <a:ext cx="81534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909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chemeClr val="accent2"/>
              </a:buClr>
              <a:buSzPts val="1740"/>
              <a:buFont typeface="Noto Sans Symbols"/>
              <a:buChar char="◻"/>
              <a:defRPr sz="29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marL="914400" marR="0" lvl="1" indent="-344169" algn="l" rtl="0">
              <a:lnSpc>
                <a:spcPct val="100000"/>
              </a:lnSpc>
              <a:spcBef>
                <a:spcPts val="550"/>
              </a:spcBef>
              <a:spcAft>
                <a:spcPts val="0"/>
              </a:spcAft>
              <a:buClr>
                <a:schemeClr val="accent1"/>
              </a:buClr>
              <a:buSzPts val="1820"/>
              <a:buFont typeface="Noto Sans Symbols"/>
              <a:buChar char="🞑"/>
              <a:defRPr sz="26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marL="1371600" marR="0" lvl="2" indent="-338137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2"/>
              </a:buClr>
              <a:buSzPts val="1725"/>
              <a:buFont typeface="Noto Sans Symbols"/>
              <a:buChar char="■"/>
              <a:defRPr sz="23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marL="1828800" marR="0" lvl="3" indent="-32385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A5AB81"/>
              </a:buClr>
              <a:buSzPts val="15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marL="2286000" marR="0" lvl="4" indent="-31115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D8B25C"/>
              </a:buClr>
              <a:buSzPts val="13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 sz="18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Noto Sans Symbols"/>
              <a:buChar char="▪"/>
              <a:defRPr sz="18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Noto Sans Symbols"/>
              <a:buChar char="▪"/>
              <a:defRPr sz="18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4"/>
              </a:buClr>
              <a:buSzPts val="1800"/>
              <a:buFont typeface="Noto Sans Symbols"/>
              <a:buChar char="▪"/>
              <a:defRPr sz="18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endParaRPr/>
          </a:p>
        </p:txBody>
      </p:sp>
      <p:sp>
        <p:nvSpPr>
          <p:cNvPr id="8" name="Google Shape;8;p14"/>
          <p:cNvSpPr txBox="1">
            <a:spLocks noGrp="1"/>
          </p:cNvSpPr>
          <p:nvPr>
            <p:ph type="dt" idx="10"/>
          </p:nvPr>
        </p:nvSpPr>
        <p:spPr>
          <a:xfrm>
            <a:off x="6096000" y="6248400"/>
            <a:ext cx="26670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endParaRPr/>
          </a:p>
        </p:txBody>
      </p:sp>
      <p:sp>
        <p:nvSpPr>
          <p:cNvPr id="9" name="Google Shape;9;p14"/>
          <p:cNvSpPr txBox="1">
            <a:spLocks noGrp="1"/>
          </p:cNvSpPr>
          <p:nvPr>
            <p:ph type="ftr" idx="11"/>
          </p:nvPr>
        </p:nvSpPr>
        <p:spPr>
          <a:xfrm>
            <a:off x="609600" y="6248400"/>
            <a:ext cx="542131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endParaRPr/>
          </a:p>
        </p:txBody>
      </p:sp>
      <p:sp>
        <p:nvSpPr>
          <p:cNvPr id="10" name="Google Shape;10;p14"/>
          <p:cNvSpPr/>
          <p:nvPr/>
        </p:nvSpPr>
        <p:spPr>
          <a:xfrm>
            <a:off x="0" y="1235075"/>
            <a:ext cx="9144000" cy="3190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endParaRPr sz="2800" b="0" i="0" u="none" strike="noStrike" cap="non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1" name="Google Shape;11;p14"/>
          <p:cNvSpPr/>
          <p:nvPr/>
        </p:nvSpPr>
        <p:spPr>
          <a:xfrm>
            <a:off x="0" y="1279525"/>
            <a:ext cx="533400" cy="2286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endParaRPr sz="2800" b="0" i="0" u="none" strike="noStrike" cap="non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2" name="Google Shape;12;p14"/>
          <p:cNvSpPr/>
          <p:nvPr/>
        </p:nvSpPr>
        <p:spPr>
          <a:xfrm>
            <a:off x="590550" y="1279525"/>
            <a:ext cx="8553450" cy="228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endParaRPr sz="2800" b="0" i="0" u="none" strike="noStrike" cap="non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3" name="Google Shape;13;p14"/>
          <p:cNvSpPr txBox="1">
            <a:spLocks noGrp="1"/>
          </p:cNvSpPr>
          <p:nvPr>
            <p:ph type="sldNum" idx="12"/>
          </p:nvPr>
        </p:nvSpPr>
        <p:spPr>
          <a:xfrm>
            <a:off x="0" y="1271588"/>
            <a:ext cx="533400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"/>
          <p:cNvSpPr/>
          <p:nvPr/>
        </p:nvSpPr>
        <p:spPr>
          <a:xfrm>
            <a:off x="0" y="0"/>
            <a:ext cx="914400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buSzPts val="2000"/>
            </a:pPr>
            <a:endParaRPr lang="en-US" sz="2000" b="1" dirty="0">
              <a:solidFill>
                <a:srgbClr val="C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lvl="0" algn="ctr">
              <a:buSzPts val="2000"/>
            </a:pP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Army Institute of Technology Pune</a:t>
            </a:r>
          </a:p>
          <a:p>
            <a:pPr lvl="0" algn="ctr">
              <a:buSzPts val="2000"/>
            </a:pP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Department of Information Technology</a:t>
            </a:r>
          </a:p>
        </p:txBody>
      </p:sp>
      <p:sp>
        <p:nvSpPr>
          <p:cNvPr id="120" name="Google Shape;120;p1"/>
          <p:cNvSpPr/>
          <p:nvPr/>
        </p:nvSpPr>
        <p:spPr>
          <a:xfrm>
            <a:off x="304800" y="1524000"/>
            <a:ext cx="8458200" cy="5262939"/>
          </a:xfrm>
          <a:prstGeom prst="rect">
            <a:avLst/>
          </a:prstGeom>
          <a:solidFill>
            <a:srgbClr val="EFCCBF"/>
          </a:solidFill>
          <a:ln w="10000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  <a:effectLst>
            <a:outerShdw blurRad="38100" dist="30000" dir="5400000" rotWithShape="0">
              <a:srgbClr val="000000">
                <a:alpha val="44313"/>
              </a:srgbClr>
            </a:outerShdw>
          </a:effectLst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>
              <a:buSzPts val="2400"/>
            </a:pPr>
            <a:r>
              <a:rPr lang="en-US" sz="2000" b="1" dirty="0">
                <a:cs typeface="Arial" charset="0"/>
              </a:rPr>
              <a:t/>
            </a:r>
            <a:br>
              <a:rPr lang="en-US" sz="2400" b="1" dirty="0">
                <a:cs typeface="Arial" charset="0"/>
              </a:rPr>
            </a:br>
            <a:r>
              <a:rPr lang="en-US" sz="2000" b="1" dirty="0">
                <a:cs typeface="Arial" charset="0"/>
              </a:rPr>
              <a:t>Course Name </a:t>
            </a:r>
            <a:r>
              <a:rPr lang="en-US" sz="2000" b="1" dirty="0" smtClean="0">
                <a:cs typeface="Arial" charset="0"/>
              </a:rPr>
              <a:t>:</a:t>
            </a:r>
            <a:r>
              <a:rPr lang="en-US" altLang="en-US" sz="2000" dirty="0">
                <a:cs typeface="Times New Roman" panose="02020603050405020304" pitchFamily="18" charset="0"/>
              </a:rPr>
              <a:t>Community Engagement Project</a:t>
            </a:r>
            <a:r>
              <a:rPr lang="en-IN" sz="2000" dirty="0"/>
              <a:t/>
            </a:r>
            <a:br>
              <a:rPr lang="en-IN" sz="2400" dirty="0"/>
            </a:br>
            <a:r>
              <a:rPr lang="en-IN" sz="2000" b="1" dirty="0"/>
              <a:t>Course </a:t>
            </a:r>
            <a:r>
              <a:rPr lang="en-IN" sz="2000" b="1" dirty="0" smtClean="0"/>
              <a:t>Code: BIT25437A0B</a:t>
            </a:r>
            <a:r>
              <a:rPr lang="en-IN" dirty="0" smtClean="0" sz="2000"/>
              <a:t> </a:t>
            </a:r>
            <a:r>
              <a:rPr lang="en-IN" dirty="0" sz="2000"/>
              <a:t>	</a:t>
            </a:r>
          </a:p>
          <a:p>
            <a:pPr lvl="0" algn="ctr">
              <a:buSzPts val="2400"/>
            </a:pPr>
            <a:r>
              <a:rPr lang="en-IN" sz="2000" dirty="0" smtClean="0"/>
              <a:t> </a:t>
            </a:r>
          </a:p>
          <a:p>
            <a:pPr lvl="0" algn="ctr">
              <a:buSzPts val="2400"/>
            </a:pPr>
            <a:r>
              <a:rPr lang="en-US" sz="2000" b="1" dirty="0" smtClean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Project </a:t>
            </a:r>
            <a:r>
              <a:rPr lang="en-US" sz="2000" b="1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Title: </a:t>
            </a:r>
            <a:r>
              <a:rPr lang="en-US" sz="20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Inclusive Crowdsourcing: A Multilingual, SMS/Voice-Based Framework for Bridging Accessibility Gaps in Disaster Data Collection</a:t>
            </a:r>
          </a:p>
          <a:p>
            <a:pPr lvl="0" algn="ctr">
              <a:buSzPts val="2400"/>
            </a:pPr>
            <a:endParaRPr lang="en-US" sz="2400" b="1" dirty="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lvl="0" algn="ctr">
              <a:buSzPts val="2400"/>
            </a:pPr>
            <a:r>
              <a:rPr lang="en-US" sz="2000" b="1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Submitted by: </a:t>
            </a:r>
            <a:r>
              <a:rPr lang="en-US" sz="20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Raj Karshnia (4240), Harshwardhan (4223), Harmannat (4221), Himanshu (4224)</a:t>
            </a:r>
          </a:p>
          <a:p>
            <a:pPr lvl="0" algn="ctr">
              <a:buSzPts val="2400"/>
            </a:pPr>
            <a:endParaRPr lang="en-US" sz="2400" b="1" dirty="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lvl="0" algn="ctr">
              <a:buSzPts val="2400"/>
            </a:pPr>
            <a:r>
              <a:rPr lang="en-US" sz="2000" b="1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Guide: </a:t>
            </a:r>
            <a:r>
              <a:rPr lang="en-US" sz="20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Prof. Priya Nerkar</a:t>
            </a:r>
          </a:p>
          <a:p>
            <a:pPr lvl="0" algn="ctr">
              <a:buSzPts val="2400"/>
            </a:pPr>
            <a:endParaRPr lang="en-US" sz="2400" b="1" dirty="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lvl="0" algn="ctr">
              <a:buSzPts val="2400"/>
            </a:pPr>
            <a:r>
              <a:rPr lang="en-US" sz="2000" b="1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Academic Year: </a:t>
            </a:r>
            <a:r>
              <a:rPr lang="en-US" sz="2000" b="1" dirty="0" smtClean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2026-2027</a:t>
            </a:r>
            <a:endParaRPr lang="en-US" sz="2400" b="1" dirty="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lvl="0" algn="ctr">
              <a:buSzPts val="2400"/>
            </a:pPr>
            <a:endParaRPr lang="en-US" sz="2400" b="1" dirty="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lvl="0" algn="ctr">
              <a:buSzPts val="2400"/>
            </a:pPr>
            <a:r>
              <a:rPr lang="en-US" sz="2000" b="1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Class: </a:t>
            </a:r>
            <a:r>
              <a:rPr lang="en-US" sz="20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Second </a:t>
            </a:r>
            <a:r>
              <a:rPr lang="en-US" sz="2000" dirty="0" smtClean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Year B. Tech </a:t>
            </a:r>
            <a:r>
              <a:rPr lang="en-US" sz="20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(</a:t>
            </a:r>
            <a:r>
              <a:rPr lang="en-US" sz="2000" dirty="0" err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Division</a:t>
            </a:r>
            <a:r>
              <a:rPr lang="en-US" sz="20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: A</a:t>
            </a:r>
            <a:r>
              <a:rPr lang="en-US" sz="2000" dirty="0" smtClean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)</a:t>
            </a:r>
            <a:endParaRPr sz="1400" b="0" i="0" u="none" strike="noStrike" cap="none" dirty="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21" name="Google Shape;121;p1"/>
          <p:cNvSpPr txBox="1">
            <a:spLocks noGrp="1"/>
          </p:cNvSpPr>
          <p:nvPr>
            <p:ph type="sldNum" idx="12"/>
          </p:nvPr>
        </p:nvSpPr>
        <p:spPr>
          <a:xfrm>
            <a:off x="0" y="1271588"/>
            <a:ext cx="533400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190"/>
              <a:buNone/>
            </a:pPr>
            <a:fld id="{00000000-1234-1234-1234-123412341234}" type="slidenum">
              <a:rPr lang="en-US" sz="1190"/>
              <a:pPr marL="0" lvl="0" indent="0" algn="ctr" rtl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1190"/>
                <a:buNone/>
              </a:pPr>
              <a:t>1</a:t>
            </a:fld>
            <a:endParaRPr sz="119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156" y="88777"/>
            <a:ext cx="1185170" cy="1098674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03968" y="1"/>
            <a:ext cx="1231988" cy="127158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"/>
          <p:cNvSpPr/>
          <p:nvPr/>
        </p:nvSpPr>
        <p:spPr>
          <a:xfrm>
            <a:off x="457200" y="1600200"/>
            <a:ext cx="7391400" cy="3739445"/>
          </a:xfrm>
          <a:prstGeom prst="rect">
            <a:avLst/>
          </a:prstGeom>
          <a:blipFill rotWithShape="1">
            <a:blip r:embed="rId3">
              <a:alphaModFix/>
            </a:blip>
            <a:tile tx="0" ty="0" sx="100000" sy="100000" flip="none" algn="tl"/>
          </a:blipFill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1" i="0" u="none" strike="noStrike" cap="none" dirty="0">
                <a:solidFill>
                  <a:schemeClr val="dk1"/>
                </a:solidFill>
                <a:latin typeface="Rockwell"/>
                <a:ea typeface="Rockwell"/>
                <a:cs typeface="Rockwell"/>
                <a:sym typeface="Rockwell"/>
              </a:rPr>
              <a:t>Contents</a:t>
            </a:r>
            <a:r>
              <a:rPr lang="en-US" sz="2800" b="1" i="0" u="none" strike="noStrike" cap="none" dirty="0" smtClean="0">
                <a:solidFill>
                  <a:schemeClr val="dk1"/>
                </a:solidFill>
                <a:latin typeface="Rockwell"/>
                <a:ea typeface="Rockwell"/>
                <a:cs typeface="Rockwell"/>
                <a:sym typeface="Rockwell"/>
              </a:rPr>
              <a:t>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54013" marR="0" lvl="0" indent="-35401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Rockwell"/>
                <a:ea typeface="Rockwell"/>
                <a:cs typeface="Rockwell"/>
                <a:sym typeface="Rockwell"/>
              </a:rPr>
              <a:t>Introduction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54013" marR="0" lvl="0" indent="-35401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Rockwell"/>
                <a:ea typeface="Rockwell"/>
                <a:cs typeface="Rockwell"/>
                <a:sym typeface="Rockwell"/>
              </a:rPr>
              <a:t>Literature </a:t>
            </a:r>
            <a:r>
              <a:rPr lang="en-US" sz="2000" b="0" i="0" u="none" strike="noStrike" cap="none" dirty="0" smtClean="0">
                <a:solidFill>
                  <a:schemeClr val="dk1"/>
                </a:solidFill>
                <a:latin typeface="Rockwell"/>
                <a:ea typeface="Rockwell"/>
                <a:cs typeface="Rockwell"/>
                <a:sym typeface="Rockwell"/>
              </a:rPr>
              <a:t>Survey &amp; Findings </a:t>
            </a:r>
          </a:p>
          <a:p>
            <a:pPr marL="354013" marR="0" lvl="0" indent="-35401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dirty="0" smtClean="0">
                <a:solidFill>
                  <a:schemeClr val="dk1"/>
                </a:solidFill>
                <a:latin typeface="Rockwell"/>
                <a:ea typeface="Rockwell"/>
                <a:cs typeface="Rockwell"/>
                <a:sym typeface="Rockwell"/>
              </a:rPr>
              <a:t>Project Title</a:t>
            </a:r>
            <a:endParaRPr lang="en-US" sz="2000" dirty="0">
              <a:solidFill>
                <a:schemeClr val="dk1"/>
              </a:solidFill>
              <a:latin typeface="Rockwell"/>
              <a:ea typeface="Rockwell"/>
              <a:cs typeface="Rockwell"/>
              <a:sym typeface="Rockwell"/>
            </a:endParaRPr>
          </a:p>
          <a:p>
            <a:pPr marL="354013" marR="0" lvl="0" indent="-35401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0" i="0" u="none" strike="noStrike" cap="none" dirty="0" smtClean="0">
                <a:solidFill>
                  <a:schemeClr val="dk1"/>
                </a:solidFill>
                <a:latin typeface="Rockwell"/>
                <a:ea typeface="Rockwell"/>
                <a:cs typeface="Rockwell"/>
                <a:sym typeface="Rockwell"/>
              </a:rPr>
              <a:t>Objectives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54013" marR="0" lvl="0" indent="-35401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Rockwell"/>
                <a:ea typeface="Rockwell"/>
                <a:cs typeface="Rockwell"/>
                <a:sym typeface="Rockwell"/>
              </a:rPr>
              <a:t>Proposed </a:t>
            </a:r>
            <a:r>
              <a:rPr lang="en-US" sz="2000" b="0" i="0" u="none" strike="noStrike" cap="none" dirty="0" smtClean="0">
                <a:solidFill>
                  <a:schemeClr val="dk1"/>
                </a:solidFill>
                <a:latin typeface="Rockwell"/>
                <a:ea typeface="Rockwell"/>
                <a:cs typeface="Rockwell"/>
                <a:sym typeface="Rockwell"/>
              </a:rPr>
              <a:t>Methodology</a:t>
            </a:r>
          </a:p>
          <a:p>
            <a:pPr marL="354013" marR="0" lvl="0" indent="-35401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dirty="0" smtClean="0">
                <a:solidFill>
                  <a:schemeClr val="dk1"/>
                </a:solidFill>
                <a:latin typeface="Rockwell"/>
                <a:sym typeface="Rockwell"/>
              </a:rPr>
              <a:t>Implementation</a:t>
            </a:r>
          </a:p>
          <a:p>
            <a:pPr marL="354013" marR="0" lvl="0" indent="-35401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dirty="0" smtClean="0">
                <a:solidFill>
                  <a:schemeClr val="dk1"/>
                </a:solidFill>
                <a:latin typeface="Rockwell"/>
                <a:sym typeface="Rockwell"/>
              </a:rPr>
              <a:t>Result Analysis</a:t>
            </a:r>
          </a:p>
          <a:p>
            <a:pPr marL="354013" marR="0" lvl="0" indent="-35401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0" i="0" u="none" strike="noStrike" cap="none" dirty="0" smtClean="0">
                <a:solidFill>
                  <a:schemeClr val="dk1"/>
                </a:solidFill>
                <a:latin typeface="Rockwell"/>
                <a:ea typeface="Arial"/>
                <a:cs typeface="Arial"/>
                <a:sym typeface="Rockwell"/>
              </a:rPr>
              <a:t>Conclusion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2"/>
          <p:cNvSpPr/>
          <p:nvPr/>
        </p:nvSpPr>
        <p:spPr>
          <a:xfrm>
            <a:off x="0" y="0"/>
            <a:ext cx="914400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buSzPts val="2000"/>
            </a:pPr>
            <a:r>
              <a:rPr lang="en-US" sz="2000" b="1" i="0" u="none" strike="noStrike" cap="none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</a:t>
            </a:r>
            <a:endParaRPr lang="en-US" sz="2000" b="1" dirty="0">
              <a:solidFill>
                <a:srgbClr val="C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lvl="0" algn="ctr">
              <a:buSzPts val="2000"/>
            </a:pP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Army Institute of Technology Pune</a:t>
            </a:r>
          </a:p>
          <a:p>
            <a:pPr lvl="0" algn="ctr">
              <a:buSzPts val="2000"/>
            </a:pP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Department of Information </a:t>
            </a:r>
            <a:r>
              <a:rPr lang="en-US" sz="2000" b="1" dirty="0" smtClean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Technology</a:t>
            </a:r>
            <a:endParaRPr lang="en-US" sz="2000" b="1" dirty="0">
              <a:solidFill>
                <a:srgbClr val="C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1" name="Google Shape;131;p2"/>
          <p:cNvSpPr txBox="1">
            <a:spLocks noGrp="1"/>
          </p:cNvSpPr>
          <p:nvPr>
            <p:ph type="sldNum" idx="12"/>
          </p:nvPr>
        </p:nvSpPr>
        <p:spPr>
          <a:xfrm>
            <a:off x="0" y="1271588"/>
            <a:ext cx="533400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190"/>
              <a:buNone/>
            </a:pPr>
            <a:fld id="{00000000-1234-1234-1234-123412341234}" type="slidenum">
              <a:rPr lang="en-US" sz="1190"/>
              <a:pPr marL="0" lvl="0" indent="0" algn="ctr" rtl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1190"/>
                <a:buNone/>
              </a:pPr>
              <a:t>2</a:t>
            </a:fld>
            <a:endParaRPr sz="119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156" y="88777"/>
            <a:ext cx="1185170" cy="1098674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03968" y="1"/>
            <a:ext cx="1231988" cy="12715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3"/>
          <p:cNvSpPr/>
          <p:nvPr/>
        </p:nvSpPr>
        <p:spPr>
          <a:xfrm>
            <a:off x="457200" y="1676400"/>
            <a:ext cx="7391400" cy="523220"/>
          </a:xfrm>
          <a:prstGeom prst="rect">
            <a:avLst/>
          </a:prstGeom>
          <a:blipFill rotWithShape="1">
            <a:blip r:embed="rId3">
              <a:alphaModFix/>
            </a:blip>
            <a:tile tx="0" ty="0" sx="100000" sy="100000" flip="none" algn="tl"/>
          </a:blipFill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1" i="0" u="none" strike="noStrike" cap="none">
                <a:solidFill>
                  <a:schemeClr val="dk1"/>
                </a:solidFill>
                <a:latin typeface="Rockwell"/>
                <a:ea typeface="Rockwell"/>
                <a:cs typeface="Rockwell"/>
                <a:sym typeface="Rockwell"/>
              </a:rPr>
              <a:t>Introduction: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3"/>
          <p:cNvSpPr/>
          <p:nvPr/>
        </p:nvSpPr>
        <p:spPr>
          <a:xfrm>
            <a:off x="0" y="0"/>
            <a:ext cx="9144000" cy="7078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buSzPts val="2000"/>
            </a:pPr>
            <a:r>
              <a:rPr lang="en-US" sz="2000" b="1" i="0" u="none" strike="noStrike" cap="none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</a:t>
            </a: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Army Institute of Technology Pune</a:t>
            </a:r>
          </a:p>
          <a:p>
            <a:pPr lvl="0" algn="ctr">
              <a:buSzPts val="2000"/>
            </a:pP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Department of Information Technology</a:t>
            </a:r>
          </a:p>
        </p:txBody>
      </p:sp>
      <p:sp>
        <p:nvSpPr>
          <p:cNvPr id="142" name="Google Shape;142;p3"/>
          <p:cNvSpPr txBox="1">
            <a:spLocks noGrp="1"/>
          </p:cNvSpPr>
          <p:nvPr>
            <p:ph type="sldNum" idx="12"/>
          </p:nvPr>
        </p:nvSpPr>
        <p:spPr>
          <a:xfrm>
            <a:off x="0" y="1271588"/>
            <a:ext cx="533400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190"/>
              <a:buNone/>
            </a:pPr>
            <a:fld id="{00000000-1234-1234-1234-123412341234}" type="slidenum">
              <a:rPr lang="en-US" sz="1190"/>
              <a:pPr marL="0" lvl="0" indent="0" algn="ctr" rtl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1190"/>
                <a:buNone/>
              </a:pPr>
              <a:t>3</a:t>
            </a:fld>
            <a:endParaRPr sz="1190"/>
          </a:p>
        </p:txBody>
      </p:sp>
      <p:sp>
        <p:nvSpPr>
          <p:cNvPr id="144" name="Google Shape;144;p3"/>
          <p:cNvSpPr txBox="1"/>
          <p:nvPr/>
        </p:nvSpPr>
        <p:spPr>
          <a:xfrm>
            <a:off x="487680" y="2228459"/>
            <a:ext cx="8162544" cy="421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286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rgbClr val="000000"/>
              </a:buClr>
              <a:buSzPts val="1400"/>
              <a:buFont typeface="Arial"/>
              <a:buChar char="•"/>
            </a:pPr>
            <a:r>
              <a:rPr sz="1700" b="0">
                <a:solidFill>
                  <a:srgbClr val="000000"/>
                </a:solidFill>
                <a:latin typeface="Calibri"/>
              </a:rPr>
              <a:t>Disaster response increasingly relies on </a:t>
            </a:r>
            <a:r>
              <a:rPr sz="1700" b="1">
                <a:solidFill>
                  <a:srgbClr val="000000"/>
                </a:solidFill>
                <a:latin typeface="Calibri"/>
              </a:rPr>
              <a:t>crowdsourced data</a:t>
            </a:r>
            <a:r>
              <a:rPr sz="1700" b="0">
                <a:solidFill>
                  <a:srgbClr val="000000"/>
                </a:solidFill>
                <a:latin typeface="Calibri"/>
              </a:rPr>
              <a:t> — citizen reports, social media and volunteered geographic information (VGI).</a:t>
            </a:r>
            <a:endParaRPr sz="1700" i="0" u="none" strike="noStrike" cap="none" dirty="0">
              <a:solidFill>
                <a:srgbClr val="00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228600" indent="-228600">
              <a:spcAft>
                <a:spcPts val="1000"/>
              </a:spcAft>
              <a:buFont typeface="Arial"/>
              <a:buChar char="•"/>
            </a:pPr>
            <a:r>
              <a:rPr sz="1700" b="0">
                <a:solidFill>
                  <a:srgbClr val="000000"/>
                </a:solidFill>
                <a:latin typeface="Calibri"/>
              </a:rPr>
              <a:t>Most existing systems are built around </a:t>
            </a:r>
            <a:r>
              <a:rPr sz="1700" b="1">
                <a:solidFill>
                  <a:srgbClr val="000000"/>
                </a:solidFill>
                <a:latin typeface="Calibri"/>
              </a:rPr>
              <a:t>English, Twitter-centric, smartphone</a:t>
            </a:r>
            <a:r>
              <a:rPr sz="1700" b="0">
                <a:solidFill>
                  <a:srgbClr val="000000"/>
                </a:solidFill>
                <a:latin typeface="Calibri"/>
              </a:rPr>
              <a:t> inputs.</a:t>
            </a:r>
          </a:p>
          <a:p>
            <a:pPr marL="228600" indent="-228600">
              <a:spcAft>
                <a:spcPts val="1000"/>
              </a:spcAft>
              <a:buFont typeface="Arial"/>
              <a:buChar char="•"/>
            </a:pPr>
            <a:r>
              <a:rPr sz="1700" b="0">
                <a:solidFill>
                  <a:srgbClr val="000000"/>
                </a:solidFill>
                <a:latin typeface="Calibri"/>
              </a:rPr>
              <a:t>Yet many residents of flood-prone areas speak </a:t>
            </a:r>
            <a:r>
              <a:rPr sz="1700" b="1">
                <a:solidFill>
                  <a:srgbClr val="000000"/>
                </a:solidFill>
                <a:latin typeface="Calibri"/>
              </a:rPr>
              <a:t>Marathi or Hindi</a:t>
            </a:r>
            <a:r>
              <a:rPr sz="1700" b="0">
                <a:solidFill>
                  <a:srgbClr val="000000"/>
                </a:solidFill>
                <a:latin typeface="Calibri"/>
              </a:rPr>
              <a:t>, use </a:t>
            </a:r>
            <a:r>
              <a:rPr sz="1700" b="1">
                <a:solidFill>
                  <a:srgbClr val="000000"/>
                </a:solidFill>
                <a:latin typeface="Calibri"/>
              </a:rPr>
              <a:t>basic phones</a:t>
            </a:r>
            <a:r>
              <a:rPr sz="1700" b="0">
                <a:solidFill>
                  <a:srgbClr val="000000"/>
                </a:solidFill>
                <a:latin typeface="Calibri"/>
              </a:rPr>
              <a:t>, or have low digital literacy — so they go unheard.</a:t>
            </a:r>
          </a:p>
          <a:p>
            <a:pPr marL="228600" indent="-228600">
              <a:spcAft>
                <a:spcPts val="1000"/>
              </a:spcAft>
              <a:buFont typeface="Arial"/>
              <a:buChar char="•"/>
            </a:pPr>
            <a:r>
              <a:rPr sz="1700" b="0">
                <a:solidFill>
                  <a:srgbClr val="000000"/>
                </a:solidFill>
                <a:latin typeface="Calibri"/>
              </a:rPr>
              <a:t>The most vulnerable (elderly, rural, low-income) are often the </a:t>
            </a:r>
            <a:r>
              <a:rPr sz="1700" b="1">
                <a:solidFill>
                  <a:srgbClr val="000000"/>
                </a:solidFill>
                <a:latin typeface="Calibri"/>
              </a:rPr>
              <a:t>least represented</a:t>
            </a:r>
            <a:r>
              <a:rPr sz="1700" b="0">
                <a:solidFill>
                  <a:srgbClr val="000000"/>
                </a:solidFill>
                <a:latin typeface="Calibri"/>
              </a:rPr>
              <a:t> in the very data meant to help them.</a:t>
            </a:r>
          </a:p>
          <a:p>
            <a:pPr marL="228600" indent="-228600">
              <a:spcAft>
                <a:spcPts val="1000"/>
              </a:spcAft>
              <a:buFont typeface="Arial"/>
              <a:buChar char="•"/>
            </a:pPr>
            <a:r>
              <a:rPr sz="1700" b="0">
                <a:solidFill>
                  <a:srgbClr val="000000"/>
                </a:solidFill>
                <a:latin typeface="Calibri"/>
              </a:rPr>
              <a:t>Our project builds an </a:t>
            </a:r>
            <a:r>
              <a:rPr sz="1700" b="1">
                <a:solidFill>
                  <a:srgbClr val="000000"/>
                </a:solidFill>
                <a:latin typeface="Calibri"/>
              </a:rPr>
              <a:t>inclusive, multilingual, SMS/voice-ready</a:t>
            </a:r>
            <a:r>
              <a:rPr sz="1700" b="0">
                <a:solidFill>
                  <a:srgbClr val="000000"/>
                </a:solidFill>
                <a:latin typeface="Calibri"/>
              </a:rPr>
              <a:t> reporting framework, implemented as the working prototype </a:t>
            </a:r>
            <a:r>
              <a:rPr sz="1700" b="1">
                <a:solidFill>
                  <a:srgbClr val="000000"/>
                </a:solidFill>
                <a:latin typeface="Calibri"/>
              </a:rPr>
              <a:t>AwaazSetu</a:t>
            </a:r>
            <a:r>
              <a:rPr sz="1700" b="0">
                <a:solidFill>
                  <a:srgbClr val="000000"/>
                </a:solidFill>
                <a:latin typeface="Calibri"/>
              </a:rPr>
              <a:t> for Pune.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156" y="88777"/>
            <a:ext cx="1185170" cy="1098674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03968" y="1"/>
            <a:ext cx="1231988" cy="127158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4"/>
          <p:cNvSpPr/>
          <p:nvPr/>
        </p:nvSpPr>
        <p:spPr>
          <a:xfrm>
            <a:off x="315156" y="1600200"/>
            <a:ext cx="8510792" cy="523180"/>
          </a:xfrm>
          <a:prstGeom prst="rect">
            <a:avLst/>
          </a:prstGeom>
          <a:blipFill rotWithShape="1">
            <a:blip r:embed="rId3">
              <a:alphaModFix/>
            </a:blip>
            <a:tile tx="0" ty="0" sx="100000" sy="100000" flip="none" algn="tl"/>
          </a:blipFill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2800"/>
            </a:pPr>
            <a:r>
              <a:rPr lang="en-US" sz="2400" b="1" i="0" u="none" strike="noStrike" cap="none" dirty="0">
                <a:solidFill>
                  <a:schemeClr val="dk1"/>
                </a:solidFill>
                <a:latin typeface="Rockwell"/>
                <a:ea typeface="Rockwell"/>
                <a:cs typeface="Rockwell"/>
                <a:sym typeface="Rockwell"/>
              </a:rPr>
              <a:t>Literature Survey &amp; Findings : (Paper 1 of 4)</a:t>
            </a:r>
            <a:endParaRPr sz="2000" b="1" dirty="0">
              <a:solidFill>
                <a:schemeClr val="dk1"/>
              </a:solidFill>
              <a:latin typeface="Rockwell"/>
              <a:ea typeface="Rockwell"/>
              <a:cs typeface="Rockwell"/>
            </a:endParaRPr>
          </a:p>
        </p:txBody>
      </p:sp>
      <p:graphicFrame>
        <p:nvGraphicFramePr>
          <p:cNvPr id="150" name="Google Shape;150;p4"/>
          <p:cNvGraphicFramePr/>
          <p:nvPr>
            <p:extLst>
              <p:ext uri="{D42A27DB-BD31-4B8C-83A1-F6EECF244321}">
                <p14:modId xmlns:p14="http://schemas.microsoft.com/office/powerpoint/2010/main" val="1937766623"/>
              </p:ext>
            </p:extLst>
          </p:nvPr>
        </p:nvGraphicFramePr>
        <p:xfrm>
          <a:off x="317999" y="2151475"/>
          <a:ext cx="8454939" cy="4132400"/>
        </p:xfrm>
        <a:graphic>
          <a:graphicData uri="http://schemas.openxmlformats.org/drawingml/2006/table">
            <a:tbl>
              <a:tblPr firstRow="1" bandRow="1">
                <a:noFill/>
                <a:tableStyleId>{48FA4B19-A9D0-47F7-9D78-609EB99368AB}</a:tableStyleId>
              </a:tblPr>
              <a:tblGrid>
                <a:gridCol w="8562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30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000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3555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917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ambria"/>
                          <a:ea typeface="Calibri"/>
                          <a:cs typeface="Times New Roman"/>
                        </a:rPr>
                        <a:t>Sr. No</a:t>
                      </a:r>
                      <a:endParaRPr lang="en-US" sz="11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Cambria"/>
                          <a:ea typeface="Calibri"/>
                          <a:cs typeface="Times New Roman"/>
                        </a:rPr>
                        <a:t>Downloaded Paper title with link</a:t>
                      </a:r>
                      <a:endParaRPr lang="en-US" sz="11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ambria"/>
                          <a:ea typeface="Calibri"/>
                          <a:cs typeface="Times New Roman"/>
                        </a:rPr>
                        <a:t>Details of paper</a:t>
                      </a:r>
                      <a:endParaRPr lang="en-US" sz="11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ambria"/>
                          <a:ea typeface="Calibri"/>
                          <a:cs typeface="Times New Roman"/>
                        </a:rPr>
                        <a:t>(year of publication /Journal </a:t>
                      </a:r>
                      <a:r>
                        <a:rPr lang="en-US" sz="1200" b="1" dirty="0" smtClean="0">
                          <a:effectLst/>
                          <a:latin typeface="Cambria"/>
                          <a:ea typeface="Calibri"/>
                          <a:cs typeface="Times New Roman"/>
                        </a:rPr>
                        <a:t>name)</a:t>
                      </a:r>
                      <a:endParaRPr lang="en-US" sz="11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Cambria"/>
                          <a:ea typeface="Calibri"/>
                          <a:cs typeface="Times New Roman"/>
                        </a:rPr>
                        <a:t>Findings of Paper</a:t>
                      </a:r>
                      <a:endParaRPr lang="en-US" sz="11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Cambria"/>
                          <a:ea typeface="Calibri"/>
                          <a:cs typeface="Times New Roman"/>
                        </a:rPr>
                        <a:t>(Min 4 in bullet points)</a:t>
                      </a:r>
                      <a:endParaRPr lang="en-US" sz="11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0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1.</a:t>
                      </a:r>
                      <a:endParaRPr sz="1600" dirty="0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Javed et al., 2024 — IndicVoices: Towards building an Inclusive Multilingual Speech Dataset for Indian Languages</a:t>
                      </a:r>
                      <a:endParaRPr sz="1800" u="none" strike="noStrike" cap="none"/>
                    </a:p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https://aclanthology.org/2024.findings-acl.639/</a:t>
                      </a: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Year: 2024</a:t>
                      </a:r>
                      <a:endParaRPr sz="1800" u="none" strike="noStrike" cap="none"/>
                    </a:p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Findings of ACL 2024 (Association for Computational Linguistics), pp. 10740–10782</a:t>
                      </a:r>
                    </a:p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Dataset / technology paper</a:t>
                      </a: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114300" marR="0" lvl="0" indent="-11430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Char char="•"/>
                      </a:pPr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7,348 hours of natural speech: read (9%), extempore (74%) and conversational (17%)</a:t>
                      </a:r>
                      <a:endParaRPr sz="1800" u="none" strike="noStrike" cap="none" dirty="0"/>
                    </a:p>
                    <a:p>
                      <a:pPr marL="114300" indent="-114300">
                        <a:buFont typeface="Arial"/>
                        <a:buChar char="•"/>
                      </a:pPr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16,237 speakers from 145 Indian districts covering 22 languages</a:t>
                      </a:r>
                    </a:p>
                    <a:p>
                      <a:pPr marL="114300" indent="-114300">
                        <a:buFont typeface="Arial"/>
                        <a:buChar char="•"/>
                      </a:pPr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1,639 hours already transcribed, a median of 73 hours per language</a:t>
                      </a:r>
                    </a:p>
                    <a:p>
                      <a:pPr marL="114300" indent="-114300">
                        <a:buFont typeface="Arial"/>
                        <a:buChar char="•"/>
                      </a:pPr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Releases IndicASR, a speech recognition model supporting all 22 languages</a:t>
                      </a: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52" name="Google Shape;152;p4"/>
          <p:cNvSpPr/>
          <p:nvPr/>
        </p:nvSpPr>
        <p:spPr>
          <a:xfrm>
            <a:off x="0" y="0"/>
            <a:ext cx="9144000" cy="7078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buSzPts val="2000"/>
            </a:pPr>
            <a:r>
              <a:rPr lang="en-US" sz="2000" b="1" i="0" u="none" strike="noStrike" cap="none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</a:t>
            </a: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Army Institute of Technology Pune</a:t>
            </a:r>
          </a:p>
          <a:p>
            <a:pPr lvl="0" algn="ctr">
              <a:buSzPts val="2000"/>
            </a:pP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Department of Information Technology</a:t>
            </a:r>
          </a:p>
        </p:txBody>
      </p:sp>
      <p:sp>
        <p:nvSpPr>
          <p:cNvPr id="155" name="Google Shape;155;p4"/>
          <p:cNvSpPr txBox="1">
            <a:spLocks noGrp="1"/>
          </p:cNvSpPr>
          <p:nvPr>
            <p:ph type="sldNum" idx="12"/>
          </p:nvPr>
        </p:nvSpPr>
        <p:spPr>
          <a:xfrm>
            <a:off x="0" y="1271588"/>
            <a:ext cx="533400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190"/>
              <a:buNone/>
            </a:pPr>
            <a:fld id="{00000000-1234-1234-1234-123412341234}" type="slidenum">
              <a:rPr lang="en-US" sz="1190"/>
              <a:pPr marL="0" lvl="0" indent="0" algn="ctr" rtl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1190"/>
                <a:buNone/>
              </a:pPr>
              <a:t>4</a:t>
            </a:fld>
            <a:endParaRPr sz="1190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156" y="88777"/>
            <a:ext cx="1185170" cy="1098674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03968" y="1"/>
            <a:ext cx="1231988" cy="1271588"/>
          </a:xfrm>
          <a:prstGeom prst="rect">
            <a:avLst/>
          </a:prstGeom>
        </p:spPr>
      </p:pic>
      <p:sp>
        <p:nvSpPr>
          <p:cNvPr id="156" name="Rectangle 155"/>
          <p:cNvSpPr/>
          <p:nvPr/>
        </p:nvSpPr>
        <p:spPr>
          <a:xfrm>
            <a:off x="317999" y="5300000"/>
            <a:ext cx="8454939" cy="620000"/>
          </a:xfrm>
          <a:prstGeom prst="rect">
            <a:avLst/>
          </a:prstGeom>
          <a:solidFill>
            <a:srgbClr val="EAF1F7"/>
          </a:solidFill>
          <a:ln>
            <a:solidFill>
              <a:srgbClr val="94B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>
                <a:solidFill>
                  <a:srgbClr val="000000"/>
                </a:solidFill>
                <a:latin typeface="Calibri"/>
              </a:rPr>
              <a:t>Dataset(s) used:</a:t>
            </a:r>
            <a:r>
              <a:rPr sz="1200" b="0">
                <a:solidFill>
                  <a:srgbClr val="000000"/>
                </a:solidFill>
                <a:latin typeface="Calibri"/>
              </a:rPr>
              <a:t> IndicVoices corpus — 7,348 h, 22 languages, 16,237 speakers, released by AI4Bharat (huggingface.co/datasets/ai4bharat/IndicVoices · arXiv:2403.01926).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317999" y="6020000"/>
            <a:ext cx="8454939" cy="520000"/>
          </a:xfrm>
          <a:prstGeom prst="rect">
            <a:avLst/>
          </a:prstGeom>
          <a:solidFill>
            <a:srgbClr val="EFCCBF"/>
          </a:solidFill>
          <a:ln>
            <a:solidFill>
              <a:srgbClr val="DD8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300" b="1">
                <a:solidFill>
                  <a:srgbClr val="000000"/>
                </a:solidFill>
                <a:latin typeface="Calibri"/>
              </a:rPr>
              <a:t>Use in AwaazSetu (M1 – Intake):</a:t>
            </a:r>
            <a:r>
              <a:rPr sz="1300" b="0">
                <a:solidFill>
                  <a:srgbClr val="000000"/>
                </a:solidFill>
                <a:latin typeface="Calibri"/>
              </a:rPr>
              <a:t> an open Indian-language speech model for transcribing Marathi and Hindi voice notes.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4"/>
          <p:cNvSpPr/>
          <p:nvPr/>
        </p:nvSpPr>
        <p:spPr>
          <a:xfrm>
            <a:off x="315156" y="1600200"/>
            <a:ext cx="8510792" cy="523180"/>
          </a:xfrm>
          <a:prstGeom prst="rect">
            <a:avLst/>
          </a:prstGeom>
          <a:blipFill rotWithShape="1">
            <a:blip r:embed="rId3">
              <a:alphaModFix/>
            </a:blip>
            <a:tile tx="0" ty="0" sx="100000" sy="100000" flip="none" algn="tl"/>
          </a:blipFill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2800"/>
            </a:pPr>
            <a:r>
              <a:rPr lang="en-US" sz="2400" b="1" i="0" u="none" strike="noStrike" cap="none" dirty="0">
                <a:solidFill>
                  <a:schemeClr val="dk1"/>
                </a:solidFill>
                <a:latin typeface="Rockwell"/>
                <a:ea typeface="Rockwell"/>
                <a:cs typeface="Rockwell"/>
                <a:sym typeface="Rockwell"/>
              </a:rPr>
              <a:t>Literature Survey &amp; Findings : (Paper 2 of 4)</a:t>
            </a:r>
            <a:endParaRPr sz="2000" b="1" dirty="0">
              <a:solidFill>
                <a:schemeClr val="dk1"/>
              </a:solidFill>
              <a:latin typeface="Rockwell"/>
              <a:ea typeface="Rockwell"/>
              <a:cs typeface="Rockwell"/>
            </a:endParaRPr>
          </a:p>
        </p:txBody>
      </p:sp>
      <p:graphicFrame>
        <p:nvGraphicFramePr>
          <p:cNvPr id="150" name="Google Shape;150;p4"/>
          <p:cNvGraphicFramePr/>
          <p:nvPr>
            <p:extLst>
              <p:ext uri="{D42A27DB-BD31-4B8C-83A1-F6EECF244321}">
                <p14:modId xmlns:p14="http://schemas.microsoft.com/office/powerpoint/2010/main" val="1937766623"/>
              </p:ext>
            </p:extLst>
          </p:nvPr>
        </p:nvGraphicFramePr>
        <p:xfrm>
          <a:off x="317999" y="2151475"/>
          <a:ext cx="8454939" cy="4132400"/>
        </p:xfrm>
        <a:graphic>
          <a:graphicData uri="http://schemas.openxmlformats.org/drawingml/2006/table">
            <a:tbl>
              <a:tblPr firstRow="1" bandRow="1">
                <a:noFill/>
                <a:tableStyleId>{48FA4B19-A9D0-47F7-9D78-609EB99368AB}</a:tableStyleId>
              </a:tblPr>
              <a:tblGrid>
                <a:gridCol w="8562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30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000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3555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917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ambria"/>
                          <a:ea typeface="Calibri"/>
                          <a:cs typeface="Times New Roman"/>
                        </a:rPr>
                        <a:t>Sr. No</a:t>
                      </a:r>
                      <a:endParaRPr lang="en-US" sz="11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Cambria"/>
                          <a:ea typeface="Calibri"/>
                          <a:cs typeface="Times New Roman"/>
                        </a:rPr>
                        <a:t>Downloaded Paper title with link</a:t>
                      </a:r>
                      <a:endParaRPr lang="en-US" sz="11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ambria"/>
                          <a:ea typeface="Calibri"/>
                          <a:cs typeface="Times New Roman"/>
                        </a:rPr>
                        <a:t>Details of paper</a:t>
                      </a:r>
                      <a:endParaRPr lang="en-US" sz="11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ambria"/>
                          <a:ea typeface="Calibri"/>
                          <a:cs typeface="Times New Roman"/>
                        </a:rPr>
                        <a:t>(year of publication /Journal </a:t>
                      </a:r>
                      <a:r>
                        <a:rPr lang="en-US" sz="1200" b="1" dirty="0" smtClean="0">
                          <a:effectLst/>
                          <a:latin typeface="Cambria"/>
                          <a:ea typeface="Calibri"/>
                          <a:cs typeface="Times New Roman"/>
                        </a:rPr>
                        <a:t>name)</a:t>
                      </a:r>
                      <a:endParaRPr lang="en-US" sz="11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Cambria"/>
                          <a:ea typeface="Calibri"/>
                          <a:cs typeface="Times New Roman"/>
                        </a:rPr>
                        <a:t>Findings of Paper</a:t>
                      </a:r>
                      <a:endParaRPr lang="en-US" sz="11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Cambria"/>
                          <a:ea typeface="Calibri"/>
                          <a:cs typeface="Times New Roman"/>
                        </a:rPr>
                        <a:t>(Min 4 in bullet points)</a:t>
                      </a:r>
                      <a:endParaRPr lang="en-US" sz="11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0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2.</a:t>
                      </a:r>
                      <a:endParaRPr sz="1600" dirty="0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Dursunoğlu et al., 2026 — Designing a Human-in-the-Loop AI System for Incident Consolidation and Severity-Aware Triage in Emergency Call Centers</a:t>
                      </a:r>
                      <a:endParaRPr sz="1800" u="none" strike="noStrike" cap="none"/>
                    </a:p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https://doi.org/10.59297/g2fhn369</a:t>
                      </a: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Year: 2026</a:t>
                      </a:r>
                      <a:endParaRPr sz="1800" u="none" strike="noStrike" cap="none"/>
                    </a:p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Proceedings of the International ISCRAM Conference, Vol. 23</a:t>
                      </a:r>
                    </a:p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Technology paper</a:t>
                      </a: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114300" marR="0" lvl="0" indent="-11430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Char char="•"/>
                      </a:pPr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Full automation is unsafe in high-stakes emergencies; operators stay in control</a:t>
                      </a:r>
                      <a:endParaRPr sz="1800" u="none" strike="noStrike" cap="none" dirty="0"/>
                    </a:p>
                    <a:p>
                      <a:pPr marL="114300" indent="-114300">
                        <a:buFont typeface="Arial"/>
                        <a:buChar char="•"/>
                      </a:pPr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Pipeline: speech-to-text → NLP → probabilistic severity → spatial-semantic clustering</a:t>
                      </a:r>
                    </a:p>
                    <a:p>
                      <a:pPr marL="114300" indent="-114300">
                        <a:buFont typeface="Arial"/>
                        <a:buChar char="•"/>
                      </a:pPr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Merges duplicate reports; adds real-time geospatial awareness</a:t>
                      </a:r>
                    </a:p>
                    <a:p>
                      <a:pPr marL="114300" indent="-114300">
                        <a:buFont typeface="Arial"/>
                        <a:buChar char="•"/>
                      </a:pPr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Synthetic surge test: good classification, calibrated confidence</a:t>
                      </a: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52" name="Google Shape;152;p4"/>
          <p:cNvSpPr/>
          <p:nvPr/>
        </p:nvSpPr>
        <p:spPr>
          <a:xfrm>
            <a:off x="0" y="0"/>
            <a:ext cx="9144000" cy="7078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buSzPts val="2000"/>
            </a:pPr>
            <a:r>
              <a:rPr lang="en-US" sz="2000" b="1" i="0" u="none" strike="noStrike" cap="none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</a:t>
            </a: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Army Institute of Technology Pune</a:t>
            </a:r>
          </a:p>
          <a:p>
            <a:pPr lvl="0" algn="ctr">
              <a:buSzPts val="2000"/>
            </a:pP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Department of Information Technology</a:t>
            </a:r>
          </a:p>
        </p:txBody>
      </p:sp>
      <p:sp>
        <p:nvSpPr>
          <p:cNvPr id="155" name="Google Shape;155;p4"/>
          <p:cNvSpPr txBox="1">
            <a:spLocks noGrp="1"/>
          </p:cNvSpPr>
          <p:nvPr>
            <p:ph type="sldNum" idx="12"/>
          </p:nvPr>
        </p:nvSpPr>
        <p:spPr>
          <a:xfrm>
            <a:off x="0" y="1271588"/>
            <a:ext cx="533400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190"/>
              <a:buNone/>
            </a:pPr>
            <a:fld id="{00000000-1234-1234-1234-123412341234}" type="slidenum">
              <a:rPr lang="en-US" sz="1190"/>
              <a:pPr marL="0" lvl="0" indent="0" algn="ctr" rtl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1190"/>
                <a:buNone/>
              </a:pPr>
              <a:t>4</a:t>
            </a:fld>
            <a:endParaRPr sz="1190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156" y="88777"/>
            <a:ext cx="1185170" cy="1098674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03968" y="1"/>
            <a:ext cx="1231988" cy="1271588"/>
          </a:xfrm>
          <a:prstGeom prst="rect">
            <a:avLst/>
          </a:prstGeom>
        </p:spPr>
      </p:pic>
      <p:sp>
        <p:nvSpPr>
          <p:cNvPr id="156" name="Rectangle 155"/>
          <p:cNvSpPr/>
          <p:nvPr/>
        </p:nvSpPr>
        <p:spPr>
          <a:xfrm>
            <a:off x="317999" y="5300000"/>
            <a:ext cx="8454939" cy="620000"/>
          </a:xfrm>
          <a:prstGeom prst="rect">
            <a:avLst/>
          </a:prstGeom>
          <a:solidFill>
            <a:srgbClr val="EAF1F7"/>
          </a:solidFill>
          <a:ln>
            <a:solidFill>
              <a:srgbClr val="94B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>
                <a:solidFill>
                  <a:srgbClr val="000000"/>
                </a:solidFill>
                <a:latin typeface="Calibri"/>
              </a:rPr>
              <a:t>Dataset(s) used:</a:t>
            </a:r>
            <a:r>
              <a:rPr sz="1200" b="0">
                <a:solidFill>
                  <a:srgbClr val="000000"/>
                </a:solidFill>
                <a:latin typeface="Calibri"/>
              </a:rPr>
              <a:t> a synthetic, operationally grounded emergency-call dataset built by the authors (call surges, ambiguity, redundant reports); not publicly released.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317999" y="6020000"/>
            <a:ext cx="8454939" cy="520000"/>
          </a:xfrm>
          <a:prstGeom prst="rect">
            <a:avLst/>
          </a:prstGeom>
          <a:solidFill>
            <a:srgbClr val="EFCCBF"/>
          </a:solidFill>
          <a:ln>
            <a:solidFill>
              <a:srgbClr val="DD8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300" b="1">
                <a:solidFill>
                  <a:srgbClr val="000000"/>
                </a:solidFill>
                <a:latin typeface="Calibri"/>
              </a:rPr>
              <a:t>Use in AwaazSetu (M2 – Triage):</a:t>
            </a:r>
            <a:r>
              <a:rPr sz="1300" b="0">
                <a:solidFill>
                  <a:srgbClr val="000000"/>
                </a:solidFill>
                <a:latin typeface="Calibri"/>
              </a:rPr>
              <a:t> explained severity scoring, duplicate merging and coordinator verification of every incident.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4"/>
          <p:cNvSpPr/>
          <p:nvPr/>
        </p:nvSpPr>
        <p:spPr>
          <a:xfrm>
            <a:off x="315156" y="1600200"/>
            <a:ext cx="8510792" cy="523180"/>
          </a:xfrm>
          <a:prstGeom prst="rect">
            <a:avLst/>
          </a:prstGeom>
          <a:blipFill rotWithShape="1">
            <a:blip r:embed="rId3">
              <a:alphaModFix/>
            </a:blip>
            <a:tile tx="0" ty="0" sx="100000" sy="100000" flip="none" algn="tl"/>
          </a:blipFill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2800"/>
            </a:pPr>
            <a:r>
              <a:rPr lang="en-US" sz="2400" b="1" i="0" u="none" strike="noStrike" cap="none" dirty="0">
                <a:solidFill>
                  <a:schemeClr val="dk1"/>
                </a:solidFill>
                <a:latin typeface="Rockwell"/>
                <a:ea typeface="Rockwell"/>
                <a:cs typeface="Rockwell"/>
                <a:sym typeface="Rockwell"/>
              </a:rPr>
              <a:t>Literature Survey &amp; Findings : (Paper 3 of 4)</a:t>
            </a:r>
            <a:endParaRPr sz="2000" b="1" dirty="0">
              <a:solidFill>
                <a:schemeClr val="dk1"/>
              </a:solidFill>
              <a:latin typeface="Rockwell"/>
              <a:ea typeface="Rockwell"/>
              <a:cs typeface="Rockwell"/>
            </a:endParaRPr>
          </a:p>
        </p:txBody>
      </p:sp>
      <p:graphicFrame>
        <p:nvGraphicFramePr>
          <p:cNvPr id="150" name="Google Shape;150;p4"/>
          <p:cNvGraphicFramePr/>
          <p:nvPr>
            <p:extLst>
              <p:ext uri="{D42A27DB-BD31-4B8C-83A1-F6EECF244321}">
                <p14:modId xmlns:p14="http://schemas.microsoft.com/office/powerpoint/2010/main" val="1937766623"/>
              </p:ext>
            </p:extLst>
          </p:nvPr>
        </p:nvGraphicFramePr>
        <p:xfrm>
          <a:off x="317999" y="2151475"/>
          <a:ext cx="8454939" cy="4132400"/>
        </p:xfrm>
        <a:graphic>
          <a:graphicData uri="http://schemas.openxmlformats.org/drawingml/2006/table">
            <a:tbl>
              <a:tblPr firstRow="1" bandRow="1">
                <a:noFill/>
                <a:tableStyleId>{48FA4B19-A9D0-47F7-9D78-609EB99368AB}</a:tableStyleId>
              </a:tblPr>
              <a:tblGrid>
                <a:gridCol w="8562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30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000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3555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917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ambria"/>
                          <a:ea typeface="Calibri"/>
                          <a:cs typeface="Times New Roman"/>
                        </a:rPr>
                        <a:t>Sr. No</a:t>
                      </a:r>
                      <a:endParaRPr lang="en-US" sz="11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Cambria"/>
                          <a:ea typeface="Calibri"/>
                          <a:cs typeface="Times New Roman"/>
                        </a:rPr>
                        <a:t>Downloaded Paper title with link</a:t>
                      </a:r>
                      <a:endParaRPr lang="en-US" sz="11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ambria"/>
                          <a:ea typeface="Calibri"/>
                          <a:cs typeface="Times New Roman"/>
                        </a:rPr>
                        <a:t>Details of paper</a:t>
                      </a:r>
                      <a:endParaRPr lang="en-US" sz="11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ambria"/>
                          <a:ea typeface="Calibri"/>
                          <a:cs typeface="Times New Roman"/>
                        </a:rPr>
                        <a:t>(year of publication /Journal </a:t>
                      </a:r>
                      <a:r>
                        <a:rPr lang="en-US" sz="1200" b="1" dirty="0" smtClean="0">
                          <a:effectLst/>
                          <a:latin typeface="Cambria"/>
                          <a:ea typeface="Calibri"/>
                          <a:cs typeface="Times New Roman"/>
                        </a:rPr>
                        <a:t>name)</a:t>
                      </a:r>
                      <a:endParaRPr lang="en-US" sz="11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Cambria"/>
                          <a:ea typeface="Calibri"/>
                          <a:cs typeface="Times New Roman"/>
                        </a:rPr>
                        <a:t>Findings of Paper</a:t>
                      </a:r>
                      <a:endParaRPr lang="en-US" sz="11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Cambria"/>
                          <a:ea typeface="Calibri"/>
                          <a:cs typeface="Times New Roman"/>
                        </a:rPr>
                        <a:t>(Min 4 in bullet points)</a:t>
                      </a:r>
                      <a:endParaRPr lang="en-US" sz="11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0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3.</a:t>
                      </a:r>
                      <a:endParaRPr sz="1600" dirty="0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Hu et al., 2023 — Geo-knowledge-guided GPT models improve the extraction of location descriptions from disaster-related social media messages</a:t>
                      </a:r>
                      <a:endParaRPr sz="1800" u="none" strike="noStrike" cap="none"/>
                    </a:p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https://doi.org/10.1080/13658816.2023.2266495</a:t>
                      </a: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Year: 2023</a:t>
                      </a:r>
                      <a:endParaRPr sz="1800" u="none" strike="noStrike" cap="none"/>
                    </a:p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International Journal of Geographical Information Science (Taylor &amp; Francis)</a:t>
                      </a:r>
                    </a:p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Technology paper</a:t>
                      </a: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114300" marR="0" lvl="0" indent="-11430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Char char="•"/>
                      </a:pPr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Disaster location descriptions go beyond place names and are hard for typical NER tools</a:t>
                      </a:r>
                      <a:endParaRPr sz="1800" u="none" strike="noStrike" cap="none" dirty="0"/>
                    </a:p>
                    <a:p>
                      <a:pPr marL="114300" indent="-114300">
                        <a:buFont typeface="Arial"/>
                        <a:buChar char="•"/>
                      </a:pPr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Fuses geo-knowledge with GPT models using only 22 training examples</a:t>
                      </a:r>
                    </a:p>
                    <a:p>
                      <a:pPr marL="114300" indent="-114300">
                        <a:buFont typeface="Arial"/>
                        <a:buChar char="•"/>
                      </a:pPr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Over 40% improvement over NER approaches on Hurricane Harvey tweets</a:t>
                      </a:r>
                    </a:p>
                    <a:p>
                      <a:pPr marL="114300" indent="-114300">
                        <a:buFont typeface="Arial"/>
                        <a:buChar char="•"/>
                      </a:pPr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Geo-knowledge is indispensable for guiding GPT behaviour</a:t>
                      </a: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52" name="Google Shape;152;p4"/>
          <p:cNvSpPr/>
          <p:nvPr/>
        </p:nvSpPr>
        <p:spPr>
          <a:xfrm>
            <a:off x="0" y="0"/>
            <a:ext cx="9144000" cy="7078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buSzPts val="2000"/>
            </a:pPr>
            <a:r>
              <a:rPr lang="en-US" sz="2000" b="1" i="0" u="none" strike="noStrike" cap="none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</a:t>
            </a: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Army Institute of Technology Pune</a:t>
            </a:r>
          </a:p>
          <a:p>
            <a:pPr lvl="0" algn="ctr">
              <a:buSzPts val="2000"/>
            </a:pP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Department of Information Technology</a:t>
            </a:r>
          </a:p>
        </p:txBody>
      </p:sp>
      <p:sp>
        <p:nvSpPr>
          <p:cNvPr id="155" name="Google Shape;155;p4"/>
          <p:cNvSpPr txBox="1">
            <a:spLocks noGrp="1"/>
          </p:cNvSpPr>
          <p:nvPr>
            <p:ph type="sldNum" idx="12"/>
          </p:nvPr>
        </p:nvSpPr>
        <p:spPr>
          <a:xfrm>
            <a:off x="0" y="1271588"/>
            <a:ext cx="533400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190"/>
              <a:buNone/>
            </a:pPr>
            <a:fld id="{00000000-1234-1234-1234-123412341234}" type="slidenum">
              <a:rPr lang="en-US" sz="1190"/>
              <a:pPr marL="0" lvl="0" indent="0" algn="ctr" rtl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1190"/>
                <a:buNone/>
              </a:pPr>
              <a:t>4</a:t>
            </a:fld>
            <a:endParaRPr sz="1190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156" y="88777"/>
            <a:ext cx="1185170" cy="1098674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03968" y="1"/>
            <a:ext cx="1231988" cy="1271588"/>
          </a:xfrm>
          <a:prstGeom prst="rect">
            <a:avLst/>
          </a:prstGeom>
        </p:spPr>
      </p:pic>
      <p:sp>
        <p:nvSpPr>
          <p:cNvPr id="156" name="Rectangle 155"/>
          <p:cNvSpPr/>
          <p:nvPr/>
        </p:nvSpPr>
        <p:spPr>
          <a:xfrm>
            <a:off x="317999" y="5300000"/>
            <a:ext cx="8454939" cy="620000"/>
          </a:xfrm>
          <a:prstGeom prst="rect">
            <a:avLst/>
          </a:prstGeom>
          <a:solidFill>
            <a:srgbClr val="EAF1F7"/>
          </a:solidFill>
          <a:ln>
            <a:solidFill>
              <a:srgbClr val="94B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>
                <a:solidFill>
                  <a:srgbClr val="000000"/>
                </a:solidFill>
                <a:latin typeface="Calibri"/>
              </a:rPr>
              <a:t>Dataset(s) used:</a:t>
            </a:r>
            <a:r>
              <a:rPr sz="1200" b="0">
                <a:solidFill>
                  <a:srgbClr val="000000"/>
                </a:solidFill>
                <a:latin typeface="Calibri"/>
              </a:rPr>
              <a:t> Hurricane Harvey (2017) tweets from the authors’ annotated corpus; source: UNT Libraries Harvey Twitter collection · github.com/geoai-lab/HowDoPeopleDescribeLocations.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317999" y="6020000"/>
            <a:ext cx="8454939" cy="520000"/>
          </a:xfrm>
          <a:prstGeom prst="rect">
            <a:avLst/>
          </a:prstGeom>
          <a:solidFill>
            <a:srgbClr val="EFCCBF"/>
          </a:solidFill>
          <a:ln>
            <a:solidFill>
              <a:srgbClr val="DD8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300" b="1">
                <a:solidFill>
                  <a:srgbClr val="000000"/>
                </a:solidFill>
                <a:latin typeface="Calibri"/>
              </a:rPr>
              <a:t>Use in AwaazSetu (M3 – Location):</a:t>
            </a:r>
            <a:r>
              <a:rPr sz="1300" b="0">
                <a:solidFill>
                  <a:srgbClr val="000000"/>
                </a:solidFill>
                <a:latin typeface="Calibri"/>
              </a:rPr>
              <a:t> an India-specific few-shot extraction prompt combined with the Pune gazetteer of 450 places.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4"/>
          <p:cNvSpPr/>
          <p:nvPr/>
        </p:nvSpPr>
        <p:spPr>
          <a:xfrm>
            <a:off x="315156" y="1600200"/>
            <a:ext cx="8510792" cy="523180"/>
          </a:xfrm>
          <a:prstGeom prst="rect">
            <a:avLst/>
          </a:prstGeom>
          <a:blipFill rotWithShape="1">
            <a:blip r:embed="rId3">
              <a:alphaModFix/>
            </a:blip>
            <a:tile tx="0" ty="0" sx="100000" sy="100000" flip="none" algn="tl"/>
          </a:blipFill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2800"/>
            </a:pPr>
            <a:r>
              <a:rPr lang="en-US" sz="2400" b="1" i="0" u="none" strike="noStrike" cap="none" dirty="0">
                <a:solidFill>
                  <a:schemeClr val="dk1"/>
                </a:solidFill>
                <a:latin typeface="Rockwell"/>
                <a:ea typeface="Rockwell"/>
                <a:cs typeface="Rockwell"/>
                <a:sym typeface="Rockwell"/>
              </a:rPr>
              <a:t>Literature Survey &amp; Findings : (Paper 4 of 4)</a:t>
            </a:r>
            <a:endParaRPr sz="2000" b="1" dirty="0">
              <a:solidFill>
                <a:schemeClr val="dk1"/>
              </a:solidFill>
              <a:latin typeface="Rockwell"/>
              <a:ea typeface="Rockwell"/>
              <a:cs typeface="Rockwell"/>
            </a:endParaRPr>
          </a:p>
        </p:txBody>
      </p:sp>
      <p:graphicFrame>
        <p:nvGraphicFramePr>
          <p:cNvPr id="150" name="Google Shape;150;p4"/>
          <p:cNvGraphicFramePr/>
          <p:nvPr>
            <p:extLst>
              <p:ext uri="{D42A27DB-BD31-4B8C-83A1-F6EECF244321}">
                <p14:modId xmlns:p14="http://schemas.microsoft.com/office/powerpoint/2010/main" val="1937766623"/>
              </p:ext>
            </p:extLst>
          </p:nvPr>
        </p:nvGraphicFramePr>
        <p:xfrm>
          <a:off x="317999" y="2151475"/>
          <a:ext cx="8454939" cy="4132400"/>
        </p:xfrm>
        <a:graphic>
          <a:graphicData uri="http://schemas.openxmlformats.org/drawingml/2006/table">
            <a:tbl>
              <a:tblPr firstRow="1" bandRow="1">
                <a:noFill/>
                <a:tableStyleId>{48FA4B19-A9D0-47F7-9D78-609EB99368AB}</a:tableStyleId>
              </a:tblPr>
              <a:tblGrid>
                <a:gridCol w="8562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30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000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3555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917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ambria"/>
                          <a:ea typeface="Calibri"/>
                          <a:cs typeface="Times New Roman"/>
                        </a:rPr>
                        <a:t>Sr. No</a:t>
                      </a:r>
                      <a:endParaRPr lang="en-US" sz="11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Cambria"/>
                          <a:ea typeface="Calibri"/>
                          <a:cs typeface="Times New Roman"/>
                        </a:rPr>
                        <a:t>Downloaded Paper title with link</a:t>
                      </a:r>
                      <a:endParaRPr lang="en-US" sz="11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ambria"/>
                          <a:ea typeface="Calibri"/>
                          <a:cs typeface="Times New Roman"/>
                        </a:rPr>
                        <a:t>Details of paper</a:t>
                      </a:r>
                      <a:endParaRPr lang="en-US" sz="11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ambria"/>
                          <a:ea typeface="Calibri"/>
                          <a:cs typeface="Times New Roman"/>
                        </a:rPr>
                        <a:t>(year of publication /Journal </a:t>
                      </a:r>
                      <a:r>
                        <a:rPr lang="en-US" sz="1200" b="1" dirty="0" smtClean="0">
                          <a:effectLst/>
                          <a:latin typeface="Cambria"/>
                          <a:ea typeface="Calibri"/>
                          <a:cs typeface="Times New Roman"/>
                        </a:rPr>
                        <a:t>name)</a:t>
                      </a:r>
                      <a:endParaRPr lang="en-US" sz="11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Cambria"/>
                          <a:ea typeface="Calibri"/>
                          <a:cs typeface="Times New Roman"/>
                        </a:rPr>
                        <a:t>Findings of Paper</a:t>
                      </a:r>
                      <a:endParaRPr lang="en-US" sz="11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Cambria"/>
                          <a:ea typeface="Calibri"/>
                          <a:cs typeface="Times New Roman"/>
                        </a:rPr>
                        <a:t>(Min 4 in bullet points)</a:t>
                      </a:r>
                      <a:endParaRPr lang="en-US" sz="11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0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4.</a:t>
                      </a:r>
                      <a:endParaRPr sz="1600" dirty="0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Wang et al., 2025 — Mining socioenvironmental drivers of bias in social media rescue data for fairness-aware modeling: A case study of Hurricane Harvey</a:t>
                      </a:r>
                      <a:endParaRPr sz="1800" u="none" strike="noStrike" cap="none"/>
                    </a:p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https://doi.org/10.1016/j.ijdrr.2025.105717</a:t>
                      </a: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Year: 2025</a:t>
                      </a:r>
                      <a:endParaRPr sz="1800" u="none" strike="noStrike" cap="none"/>
                    </a:p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International Journal of Disaster Risk Reduction, Vol. 128 (Elsevier)</a:t>
                      </a:r>
                    </a:p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Research paper</a:t>
                      </a: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114300" marR="0" lvl="0" indent="-11430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Char char="•"/>
                      </a:pPr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Social media users do not represent the whole population, biasing rescue models</a:t>
                      </a:r>
                      <a:endParaRPr sz="1800" u="none" strike="noStrike" cap="none" dirty="0"/>
                    </a:p>
                    <a:p>
                      <a:pPr marL="114300" indent="-114300">
                        <a:buFont typeface="Arial"/>
                        <a:buChar char="•"/>
                      </a:pPr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Defines Expected Rescue Requests and a Rescue Request Difference (RRD) index</a:t>
                      </a:r>
                    </a:p>
                    <a:p>
                      <a:pPr marL="114300" indent="-114300">
                        <a:buFont typeface="Arial"/>
                        <a:buChar char="•"/>
                      </a:pPr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35 geographic, socioeconomic and digital-access variables; 1,807 requests, 534 block groups</a:t>
                      </a:r>
                    </a:p>
                    <a:p>
                      <a:pPr marL="114300" indent="-114300">
                        <a:buFont typeface="Arial"/>
                        <a:buChar char="•"/>
                      </a:pPr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% Minority and road density identified as sensitive attributes for fairness</a:t>
                      </a: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52" name="Google Shape;152;p4"/>
          <p:cNvSpPr/>
          <p:nvPr/>
        </p:nvSpPr>
        <p:spPr>
          <a:xfrm>
            <a:off x="0" y="0"/>
            <a:ext cx="9144000" cy="7078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buSzPts val="2000"/>
            </a:pPr>
            <a:r>
              <a:rPr lang="en-US" sz="2000" b="1" i="0" u="none" strike="noStrike" cap="none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</a:t>
            </a: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Army Institute of Technology Pune</a:t>
            </a:r>
          </a:p>
          <a:p>
            <a:pPr lvl="0" algn="ctr">
              <a:buSzPts val="2000"/>
            </a:pP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Department of Information Technology</a:t>
            </a:r>
          </a:p>
        </p:txBody>
      </p:sp>
      <p:sp>
        <p:nvSpPr>
          <p:cNvPr id="155" name="Google Shape;155;p4"/>
          <p:cNvSpPr txBox="1">
            <a:spLocks noGrp="1"/>
          </p:cNvSpPr>
          <p:nvPr>
            <p:ph type="sldNum" idx="12"/>
          </p:nvPr>
        </p:nvSpPr>
        <p:spPr>
          <a:xfrm>
            <a:off x="0" y="1271588"/>
            <a:ext cx="533400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190"/>
              <a:buNone/>
            </a:pPr>
            <a:fld id="{00000000-1234-1234-1234-123412341234}" type="slidenum">
              <a:rPr lang="en-US" sz="1190"/>
              <a:pPr marL="0" lvl="0" indent="0" algn="ctr" rtl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1190"/>
                <a:buNone/>
              </a:pPr>
              <a:t>4</a:t>
            </a:fld>
            <a:endParaRPr sz="1190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156" y="88777"/>
            <a:ext cx="1185170" cy="1098674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03968" y="1"/>
            <a:ext cx="1231988" cy="1271588"/>
          </a:xfrm>
          <a:prstGeom prst="rect">
            <a:avLst/>
          </a:prstGeom>
        </p:spPr>
      </p:pic>
      <p:sp>
        <p:nvSpPr>
          <p:cNvPr id="156" name="Rectangle 155"/>
          <p:cNvSpPr/>
          <p:nvPr/>
        </p:nvSpPr>
        <p:spPr>
          <a:xfrm>
            <a:off x="317999" y="5300000"/>
            <a:ext cx="8454939" cy="620000"/>
          </a:xfrm>
          <a:prstGeom prst="rect">
            <a:avLst/>
          </a:prstGeom>
          <a:solidFill>
            <a:srgbClr val="EAF1F7"/>
          </a:solidFill>
          <a:ln>
            <a:solidFill>
              <a:srgbClr val="94B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>
                <a:solidFill>
                  <a:srgbClr val="000000"/>
                </a:solidFill>
                <a:latin typeface="Calibri"/>
              </a:rPr>
              <a:t>Dataset(s) used:</a:t>
            </a:r>
            <a:r>
              <a:rPr sz="1200" b="0">
                <a:solidFill>
                  <a:srgbClr val="000000"/>
                </a:solidFill>
                <a:latin typeface="Calibri"/>
              </a:rPr>
              <a:t> Hurricane Harvey rescue-request tweets (1,807 requests, 534 block groups) + 35 variables from ACS 2015 5-year estimates and CDC/ATSDR SVI, Houston MSA.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317999" y="6020000"/>
            <a:ext cx="8454939" cy="520000"/>
          </a:xfrm>
          <a:prstGeom prst="rect">
            <a:avLst/>
          </a:prstGeom>
          <a:solidFill>
            <a:srgbClr val="EFCCBF"/>
          </a:solidFill>
          <a:ln>
            <a:solidFill>
              <a:srgbClr val="DD8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300" b="1">
                <a:solidFill>
                  <a:srgbClr val="000000"/>
                </a:solidFill>
                <a:latin typeface="Calibri"/>
              </a:rPr>
              <a:t>Use in AwaazSetu (M4 – Coverage):</a:t>
            </a:r>
            <a:r>
              <a:rPr sz="1300" b="0">
                <a:solidFill>
                  <a:srgbClr val="000000"/>
                </a:solidFill>
                <a:latin typeface="Calibri"/>
              </a:rPr>
              <a:t> a coverage gap index per ward comparing observed reports with an expected baseline.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5"/>
          <p:cNvSpPr/>
          <p:nvPr/>
        </p:nvSpPr>
        <p:spPr>
          <a:xfrm>
            <a:off x="457200" y="1676400"/>
            <a:ext cx="7391400" cy="523220"/>
          </a:xfrm>
          <a:prstGeom prst="rect">
            <a:avLst/>
          </a:prstGeom>
          <a:blipFill rotWithShape="1">
            <a:blip r:embed="rId3">
              <a:alphaModFix/>
            </a:blip>
            <a:tile tx="0" ty="0" sx="100000" sy="100000" flip="none" algn="tl"/>
          </a:blipFill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2800"/>
            </a:pPr>
            <a:r>
              <a:rPr lang="en-US" sz="2800" b="1" dirty="0">
                <a:solidFill>
                  <a:schemeClr val="dk1"/>
                </a:solidFill>
                <a:latin typeface="Rockwell"/>
                <a:ea typeface="Rockwell"/>
                <a:cs typeface="Rockwell"/>
                <a:sym typeface="Rockwell"/>
              </a:rPr>
              <a:t>Project </a:t>
            </a:r>
            <a:r>
              <a:rPr lang="en-US" sz="2800" b="1" dirty="0" smtClean="0">
                <a:solidFill>
                  <a:schemeClr val="dk1"/>
                </a:solidFill>
                <a:latin typeface="Rockwell"/>
                <a:ea typeface="Rockwell"/>
                <a:cs typeface="Rockwell"/>
                <a:sym typeface="Rockwell"/>
              </a:rPr>
              <a:t>Title:</a:t>
            </a:r>
            <a:endParaRPr lang="en-US" sz="2800" b="1" dirty="0">
              <a:solidFill>
                <a:schemeClr val="dk1"/>
              </a:solidFill>
              <a:latin typeface="Rockwell"/>
              <a:ea typeface="Rockwell"/>
              <a:cs typeface="Rockwell"/>
              <a:sym typeface="Rockwell"/>
            </a:endParaRPr>
          </a:p>
        </p:txBody>
      </p:sp>
      <p:sp>
        <p:nvSpPr>
          <p:cNvPr id="163" name="Google Shape;163;p5"/>
          <p:cNvSpPr/>
          <p:nvPr/>
        </p:nvSpPr>
        <p:spPr>
          <a:xfrm>
            <a:off x="0" y="0"/>
            <a:ext cx="9144000" cy="7078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buSzPts val="2000"/>
            </a:pPr>
            <a:r>
              <a:rPr lang="en-US" sz="2000" b="1" i="0" u="none" strike="noStrike" cap="none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</a:t>
            </a: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Army Institute of Technology Pune</a:t>
            </a:r>
          </a:p>
          <a:p>
            <a:pPr lvl="0" algn="ctr">
              <a:buSzPts val="2000"/>
            </a:pP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Department of Information Technology</a:t>
            </a:r>
          </a:p>
        </p:txBody>
      </p:sp>
      <p:sp>
        <p:nvSpPr>
          <p:cNvPr id="166" name="Google Shape;166;p5"/>
          <p:cNvSpPr txBox="1">
            <a:spLocks noGrp="1"/>
          </p:cNvSpPr>
          <p:nvPr>
            <p:ph type="sldNum" idx="12"/>
          </p:nvPr>
        </p:nvSpPr>
        <p:spPr>
          <a:xfrm>
            <a:off x="0" y="1271588"/>
            <a:ext cx="533400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190"/>
              <a:buNone/>
            </a:pPr>
            <a:fld id="{00000000-1234-1234-1234-123412341234}" type="slidenum">
              <a:rPr lang="en-US" sz="1190"/>
              <a:pPr marL="0" lvl="0" indent="0" algn="ctr" rtl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1190"/>
                <a:buNone/>
              </a:pPr>
              <a:t>5</a:t>
            </a:fld>
            <a:endParaRPr sz="1190"/>
          </a:p>
        </p:txBody>
      </p:sp>
      <p:sp>
        <p:nvSpPr>
          <p:cNvPr id="168" name="Google Shape;168;p5"/>
          <p:cNvSpPr txBox="1"/>
          <p:nvPr/>
        </p:nvSpPr>
        <p:spPr>
          <a:xfrm>
            <a:off x="555075" y="2524750"/>
            <a:ext cx="7563900" cy="404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000"/>
              </a:spcAft>
              <a:buSzPts val="1800"/>
              <a:buNone/>
            </a:pPr>
            <a:r>
              <a:rPr sz="1700" b="1">
                <a:solidFill>
                  <a:srgbClr val="000000"/>
                </a:solidFill>
                <a:latin typeface="Calibri"/>
              </a:rPr>
              <a:t>Inclusive Crowdsourcing: A Multilingual, SMS/Voice-Based Framework for Bridging Accessibility Gaps in Disaster Data Collection</a:t>
            </a:r>
            <a:endParaRPr sz="1800" dirty="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indent="0">
              <a:spcAft>
                <a:spcPts val="1000"/>
              </a:spcAft>
              <a:buNone/>
            </a:pPr>
            <a:r>
              <a:rPr sz="1700" b="0">
                <a:solidFill>
                  <a:srgbClr val="000000"/>
                </a:solidFill>
                <a:latin typeface="Calibri"/>
              </a:rPr>
              <a:t>Working prototype: </a:t>
            </a:r>
            <a:r>
              <a:rPr sz="1700" b="1">
                <a:solidFill>
                  <a:srgbClr val="000000"/>
                </a:solidFill>
                <a:latin typeface="Calibri"/>
              </a:rPr>
              <a:t>AwaazSetu</a:t>
            </a:r>
            <a:r>
              <a:rPr sz="1700" b="0">
                <a:solidFill>
                  <a:srgbClr val="000000"/>
                </a:solidFill>
                <a:latin typeface="Calibri"/>
              </a:rPr>
              <a:t> (आवाज़ सेतु, “voice bridge”) — a multilingual flood-reporting and coordination system for Pune community drills.</a:t>
            </a:r>
          </a:p>
          <a:p>
            <a:pPr marL="228600" indent="-228600">
              <a:spcAft>
                <a:spcPts val="1000"/>
              </a:spcAft>
              <a:buFont typeface="Arial"/>
              <a:buChar char="•"/>
            </a:pPr>
            <a:r>
              <a:rPr sz="1700" b="0">
                <a:solidFill>
                  <a:srgbClr val="000000"/>
                </a:solidFill>
                <a:latin typeface="Calibri"/>
              </a:rPr>
              <a:t>Residents report by </a:t>
            </a:r>
            <a:r>
              <a:rPr sz="1700" b="1">
                <a:solidFill>
                  <a:srgbClr val="000000"/>
                </a:solidFill>
                <a:latin typeface="Calibri"/>
              </a:rPr>
              <a:t>web, voice, SMS or Telegram</a:t>
            </a:r>
            <a:r>
              <a:rPr sz="1700" b="0">
                <a:solidFill>
                  <a:srgbClr val="000000"/>
                </a:solidFill>
                <a:latin typeface="Calibri"/>
              </a:rPr>
              <a:t> in Marathi, Hindi or English.</a:t>
            </a:r>
          </a:p>
          <a:p>
            <a:pPr marL="228600" indent="-228600">
              <a:spcAft>
                <a:spcPts val="1000"/>
              </a:spcAft>
              <a:buFont typeface="Arial"/>
              <a:buChar char="•"/>
            </a:pPr>
            <a:r>
              <a:rPr sz="1700" b="0">
                <a:solidFill>
                  <a:srgbClr val="000000"/>
                </a:solidFill>
                <a:latin typeface="Calibri"/>
              </a:rPr>
              <a:t>Coordinators see a </a:t>
            </a:r>
            <a:r>
              <a:rPr sz="1700" b="1">
                <a:solidFill>
                  <a:srgbClr val="000000"/>
                </a:solidFill>
                <a:latin typeface="Calibri"/>
              </a:rPr>
              <a:t>mapped, prioritised and explained</a:t>
            </a:r>
            <a:r>
              <a:rPr sz="1700" b="0">
                <a:solidFill>
                  <a:srgbClr val="000000"/>
                </a:solidFill>
                <a:latin typeface="Calibri"/>
              </a:rPr>
              <a:t> incident queue.</a:t>
            </a:r>
          </a:p>
          <a:p>
            <a:pPr marL="228600" indent="-228600">
              <a:spcAft>
                <a:spcPts val="1000"/>
              </a:spcAft>
              <a:buFont typeface="Arial"/>
              <a:buChar char="•"/>
            </a:pPr>
            <a:r>
              <a:rPr sz="1700" b="0">
                <a:solidFill>
                  <a:srgbClr val="000000"/>
                </a:solidFill>
                <a:latin typeface="Calibri"/>
              </a:rPr>
              <a:t>A </a:t>
            </a:r>
            <a:r>
              <a:rPr sz="1700" b="1">
                <a:solidFill>
                  <a:srgbClr val="000000"/>
                </a:solidFill>
                <a:latin typeface="Calibri"/>
              </a:rPr>
              <a:t>coverage dashboard</a:t>
            </a:r>
            <a:r>
              <a:rPr sz="1700" b="0">
                <a:solidFill>
                  <a:srgbClr val="000000"/>
                </a:solidFill>
                <a:latin typeface="Calibri"/>
              </a:rPr>
              <a:t> shows which languages and areas are under-reported.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156" y="88777"/>
            <a:ext cx="1185170" cy="1098674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03968" y="1"/>
            <a:ext cx="1231988" cy="127158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6"/>
          <p:cNvSpPr/>
          <p:nvPr/>
        </p:nvSpPr>
        <p:spPr>
          <a:xfrm>
            <a:off x="457200" y="1600200"/>
            <a:ext cx="7391400" cy="523220"/>
          </a:xfrm>
          <a:prstGeom prst="rect">
            <a:avLst/>
          </a:prstGeom>
          <a:blipFill rotWithShape="1">
            <a:blip r:embed="rId3">
              <a:alphaModFix/>
            </a:blip>
            <a:tile tx="0" ty="0" sx="100000" sy="100000" flip="none" algn="tl"/>
          </a:blipFill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1" i="0" u="none" strike="noStrike" cap="none" dirty="0" smtClean="0">
                <a:solidFill>
                  <a:schemeClr val="dk1"/>
                </a:solidFill>
                <a:latin typeface="Rockwell"/>
                <a:ea typeface="Rockwell"/>
                <a:cs typeface="Rockwell"/>
                <a:sym typeface="Rockwell"/>
              </a:rPr>
              <a:t>Objectives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:</a:t>
            </a:r>
            <a:endParaRPr sz="2600" b="1" i="0" u="none" strike="noStrike" cap="none" dirty="0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75" name="Google Shape;175;p6"/>
          <p:cNvSpPr/>
          <p:nvPr/>
        </p:nvSpPr>
        <p:spPr>
          <a:xfrm>
            <a:off x="0" y="0"/>
            <a:ext cx="9144000" cy="7078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buSzPts val="2000"/>
            </a:pP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Army Institute of Technology Pune</a:t>
            </a:r>
          </a:p>
          <a:p>
            <a:pPr lvl="0" algn="ctr">
              <a:buSzPts val="2000"/>
            </a:pP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Department of Information Technology</a:t>
            </a:r>
          </a:p>
        </p:txBody>
      </p:sp>
      <p:sp>
        <p:nvSpPr>
          <p:cNvPr id="178" name="Google Shape;178;p6"/>
          <p:cNvSpPr txBox="1">
            <a:spLocks noGrp="1"/>
          </p:cNvSpPr>
          <p:nvPr>
            <p:ph type="sldNum" idx="12"/>
          </p:nvPr>
        </p:nvSpPr>
        <p:spPr>
          <a:xfrm>
            <a:off x="0" y="1271588"/>
            <a:ext cx="533400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190"/>
              <a:buNone/>
            </a:pPr>
            <a:fld id="{00000000-1234-1234-1234-123412341234}" type="slidenum">
              <a:rPr lang="en-US" sz="1190"/>
              <a:pPr marL="0" lvl="0" indent="0" algn="ctr" rtl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1190"/>
                <a:buNone/>
              </a:pPr>
              <a:t>6</a:t>
            </a:fld>
            <a:endParaRPr sz="1190"/>
          </a:p>
        </p:txBody>
      </p:sp>
      <p:sp>
        <p:nvSpPr>
          <p:cNvPr id="181" name="Google Shape;181;p6"/>
          <p:cNvSpPr txBox="1"/>
          <p:nvPr/>
        </p:nvSpPr>
        <p:spPr>
          <a:xfrm>
            <a:off x="590900" y="2506850"/>
            <a:ext cx="8324500" cy="381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28600" lvl="0" indent="-228600" algn="l" rtl="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Calibri"/>
              </a:rPr>
              <a:t>Accept flood reports in </a:t>
            </a:r>
            <a:r>
              <a:rPr sz="1600" b="1">
                <a:solidFill>
                  <a:srgbClr val="000000"/>
                </a:solidFill>
                <a:latin typeface="Calibri"/>
              </a:rPr>
              <a:t>Marathi, Hindi and English</a:t>
            </a:r>
            <a:r>
              <a:rPr sz="1600" b="0">
                <a:solidFill>
                  <a:srgbClr val="000000"/>
                </a:solidFill>
                <a:latin typeface="Calibri"/>
              </a:rPr>
              <a:t> through </a:t>
            </a:r>
            <a:r>
              <a:rPr sz="1600" b="1">
                <a:solidFill>
                  <a:srgbClr val="000000"/>
                </a:solidFill>
                <a:latin typeface="Calibri"/>
              </a:rPr>
              <a:t>web, voice, SMS and Telegram</a:t>
            </a:r>
            <a:r>
              <a:rPr sz="1600" b="0">
                <a:solidFill>
                  <a:srgbClr val="000000"/>
                </a:solidFill>
                <a:latin typeface="Calibri"/>
              </a:rPr>
              <a:t>, so basic-phone users are included.</a:t>
            </a:r>
            <a:endParaRPr sz="2000" dirty="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228600" indent="-228600">
              <a:spcAft>
                <a:spcPts val="800"/>
              </a:spcAft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Calibri"/>
              </a:rPr>
              <a:t>Extract structured facts (incident type, people, water level, vulnerability) using </a:t>
            </a:r>
            <a:r>
              <a:rPr sz="1600" b="1">
                <a:solidFill>
                  <a:srgbClr val="000000"/>
                </a:solidFill>
                <a:latin typeface="Calibri"/>
              </a:rPr>
              <a:t>AI with a rules fallback</a:t>
            </a:r>
            <a:r>
              <a:rPr sz="1600" b="0">
                <a:solidFill>
                  <a:srgbClr val="000000"/>
                </a:solidFill>
                <a:latin typeface="Calibri"/>
              </a:rPr>
              <a:t> that works offline.</a:t>
            </a:r>
          </a:p>
          <a:p>
            <a:pPr marL="228600" indent="-228600">
              <a:spcAft>
                <a:spcPts val="800"/>
              </a:spcAft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Calibri"/>
              </a:rPr>
              <a:t>Resolve informal </a:t>
            </a:r>
            <a:r>
              <a:rPr sz="1600" b="1">
                <a:solidFill>
                  <a:srgbClr val="000000"/>
                </a:solidFill>
                <a:latin typeface="Calibri"/>
              </a:rPr>
              <a:t>landmark names</a:t>
            </a:r>
            <a:r>
              <a:rPr sz="1600" b="0">
                <a:solidFill>
                  <a:srgbClr val="000000"/>
                </a:solidFill>
                <a:latin typeface="Calibri"/>
              </a:rPr>
              <a:t> to locations, and </a:t>
            </a:r>
            <a:r>
              <a:rPr sz="1600" b="1">
                <a:solidFill>
                  <a:srgbClr val="000000"/>
                </a:solidFill>
                <a:latin typeface="Calibri"/>
              </a:rPr>
              <a:t>ask instead of guessing</a:t>
            </a:r>
            <a:r>
              <a:rPr sz="1600" b="0">
                <a:solidFill>
                  <a:srgbClr val="000000"/>
                </a:solidFill>
                <a:latin typeface="Calibri"/>
              </a:rPr>
              <a:t> when unclear.</a:t>
            </a:r>
          </a:p>
          <a:p>
            <a:pPr marL="228600" indent="-228600">
              <a:spcAft>
                <a:spcPts val="800"/>
              </a:spcAft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Calibri"/>
              </a:rPr>
              <a:t>Give each report a </a:t>
            </a:r>
            <a:r>
              <a:rPr sz="1600" b="1">
                <a:solidFill>
                  <a:srgbClr val="000000"/>
                </a:solidFill>
                <a:latin typeface="Calibri"/>
              </a:rPr>
              <a:t>transparent, explained priority score</a:t>
            </a:r>
            <a:r>
              <a:rPr sz="1600" b="0">
                <a:solidFill>
                  <a:srgbClr val="000000"/>
                </a:solidFill>
                <a:latin typeface="Calibri"/>
              </a:rPr>
              <a:t> and merge duplicates conservatively.</a:t>
            </a:r>
          </a:p>
          <a:p>
            <a:pPr marL="228600" indent="-228600">
              <a:spcAft>
                <a:spcPts val="800"/>
              </a:spcAft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Calibri"/>
              </a:rPr>
              <a:t>Keep reporters informed in </a:t>
            </a:r>
            <a:r>
              <a:rPr sz="1600" b="1">
                <a:solidFill>
                  <a:srgbClr val="000000"/>
                </a:solidFill>
                <a:latin typeface="Calibri"/>
              </a:rPr>
              <a:t>their own language</a:t>
            </a:r>
            <a:r>
              <a:rPr sz="1600" b="0">
                <a:solidFill>
                  <a:srgbClr val="000000"/>
                </a:solidFill>
                <a:latin typeface="Calibri"/>
              </a:rPr>
              <a:t> and support </a:t>
            </a:r>
            <a:r>
              <a:rPr sz="1600" b="1">
                <a:solidFill>
                  <a:srgbClr val="000000"/>
                </a:solidFill>
                <a:latin typeface="Calibri"/>
              </a:rPr>
              <a:t>opt-in area alerts</a:t>
            </a:r>
            <a:r>
              <a:rPr sz="1600" b="0">
                <a:solidFill>
                  <a:srgbClr val="000000"/>
                </a:solidFill>
                <a:latin typeface="Calibri"/>
              </a:rPr>
              <a:t>.</a:t>
            </a:r>
          </a:p>
          <a:p>
            <a:pPr marL="228600" indent="-228600">
              <a:spcAft>
                <a:spcPts val="800"/>
              </a:spcAft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Calibri"/>
              </a:rPr>
              <a:t>Measure </a:t>
            </a:r>
            <a:r>
              <a:rPr sz="1600" b="1">
                <a:solidFill>
                  <a:srgbClr val="000000"/>
                </a:solidFill>
                <a:latin typeface="Calibri"/>
              </a:rPr>
              <a:t>inclusion</a:t>
            </a:r>
            <a:r>
              <a:rPr sz="1600" b="0">
                <a:solidFill>
                  <a:srgbClr val="000000"/>
                </a:solidFill>
                <a:latin typeface="Calibri"/>
              </a:rPr>
              <a:t>: show which languages, channels and areas are under-represented.</a:t>
            </a:r>
          </a:p>
          <a:p>
            <a:pPr marL="228600" indent="-228600">
              <a:spcAft>
                <a:spcPts val="800"/>
              </a:spcAft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Calibri"/>
              </a:rPr>
              <a:t>Protect </a:t>
            </a:r>
            <a:r>
              <a:rPr sz="1600" b="1">
                <a:solidFill>
                  <a:srgbClr val="000000"/>
                </a:solidFill>
                <a:latin typeface="Calibri"/>
              </a:rPr>
              <a:t>privacy</a:t>
            </a:r>
            <a:r>
              <a:rPr sz="1600" b="0">
                <a:solidFill>
                  <a:srgbClr val="000000"/>
                </a:solidFill>
                <a:latin typeface="Calibri"/>
              </a:rPr>
              <a:t> with consent, encrypted contacts and human review of every decision.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156" y="88777"/>
            <a:ext cx="1185170" cy="1098674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03968" y="1"/>
            <a:ext cx="1231988" cy="127158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b2289ff19e_3_37"/>
          <p:cNvSpPr/>
          <p:nvPr/>
        </p:nvSpPr>
        <p:spPr>
          <a:xfrm>
            <a:off x="0" y="0"/>
            <a:ext cx="9144000" cy="10779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ctr">
              <a:buSzPts val="2000"/>
            </a:pPr>
            <a:r>
              <a:rPr lang="en-US" sz="2000" b="1" i="0" u="none" strike="noStrike" cap="none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</a:t>
            </a: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Army Institute of Technology Pune</a:t>
            </a:r>
          </a:p>
          <a:p>
            <a:pPr lvl="0" algn="ctr">
              <a:buSzPts val="2000"/>
            </a:pP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Department of Information Technology</a:t>
            </a:r>
          </a:p>
        </p:txBody>
      </p:sp>
      <p:sp>
        <p:nvSpPr>
          <p:cNvPr id="190" name="Google Shape;190;gb2289ff19e_3_37"/>
          <p:cNvSpPr txBox="1">
            <a:spLocks noGrp="1"/>
          </p:cNvSpPr>
          <p:nvPr>
            <p:ph type="sldNum" idx="12"/>
          </p:nvPr>
        </p:nvSpPr>
        <p:spPr>
          <a:xfrm>
            <a:off x="0" y="1271588"/>
            <a:ext cx="533400" cy="24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190"/>
              <a:buNone/>
            </a:pPr>
            <a:fld id="{00000000-1234-1234-1234-123412341234}" type="slidenum">
              <a:rPr lang="en-US" sz="1190"/>
              <a:pPr marL="0" lvl="0" indent="0" algn="ctr" rtl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1190"/>
                <a:buNone/>
              </a:pPr>
              <a:t>7</a:t>
            </a:fld>
            <a:endParaRPr sz="1190"/>
          </a:p>
        </p:txBody>
      </p:sp>
      <p:sp>
        <p:nvSpPr>
          <p:cNvPr id="193" name="Google Shape;193;gb2289ff19e_3_37"/>
          <p:cNvSpPr/>
          <p:nvPr/>
        </p:nvSpPr>
        <p:spPr>
          <a:xfrm>
            <a:off x="368300" y="1580713"/>
            <a:ext cx="8567656" cy="523200"/>
          </a:xfrm>
          <a:prstGeom prst="rect">
            <a:avLst/>
          </a:prstGeom>
          <a:blipFill rotWithShape="1">
            <a:blip r:embed="rId3">
              <a:alphaModFix/>
            </a:blip>
            <a:tile tx="0" ty="0" sx="99997" sy="99997" flip="none" algn="tl"/>
          </a:blipFill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1" dirty="0" smtClean="0">
                <a:solidFill>
                  <a:schemeClr val="dk1"/>
                </a:solidFill>
                <a:latin typeface="Rockwell"/>
                <a:ea typeface="Rockwell"/>
                <a:cs typeface="Rockwell"/>
                <a:sym typeface="Rockwell"/>
              </a:rPr>
              <a:t>Proposed Methodology </a:t>
            </a:r>
            <a:r>
              <a:rPr lang="en-US" sz="2800" b="1" i="0" u="none" strike="noStrike" cap="none" dirty="0" smtClean="0">
                <a:solidFill>
                  <a:schemeClr val="dk1"/>
                </a:solidFill>
                <a:latin typeface="Rockwell"/>
                <a:ea typeface="Rockwell"/>
                <a:cs typeface="Rockwell"/>
                <a:sym typeface="Rockwell"/>
              </a:rPr>
              <a:t>: (Block Diagram)</a:t>
            </a:r>
            <a:endParaRPr sz="2800" b="1" i="0" u="none" strike="noStrike" cap="none" dirty="0">
              <a:solidFill>
                <a:schemeClr val="dk1"/>
              </a:solidFill>
              <a:latin typeface="Rockwell"/>
              <a:ea typeface="Rockwell"/>
              <a:cs typeface="Rockwell"/>
              <a:sym typeface="Rockwell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156" y="88777"/>
            <a:ext cx="1185170" cy="1098674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03968" y="1"/>
            <a:ext cx="1231988" cy="1271588"/>
          </a:xfrm>
          <a:prstGeom prst="rect">
            <a:avLst/>
          </a:prstGeom>
        </p:spPr>
      </p:pic>
      <p:pic>
        <p:nvPicPr>
          <p:cNvPr id="194" name="Block diagram: residents to intake, extraction, location, triage and merge, database, coordinator console, notification and tracking" descr="Block diagram: residents to intake, extraction, location, triage and merge, database, coordinator console, notification and tracki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8300" y="2160000"/>
            <a:ext cx="8400000" cy="4357500"/>
          </a:xfrm>
          <a:prstGeom prst="rect">
            <a:avLst/>
          </a:prstGeom>
          <a:ln w="12700">
            <a:solidFill>
              <a:srgbClr val="94B6D2"/>
            </a:solidFill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b2289ff19e_3_37"/>
          <p:cNvSpPr/>
          <p:nvPr/>
        </p:nvSpPr>
        <p:spPr>
          <a:xfrm>
            <a:off x="0" y="0"/>
            <a:ext cx="9144000" cy="10779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ctr">
              <a:buSzPts val="2000"/>
            </a:pPr>
            <a:r>
              <a:rPr lang="en-US" sz="2000" b="1" i="0" u="none" strike="noStrike" cap="none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</a:t>
            </a: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Army Institute of Technology Pune</a:t>
            </a:r>
          </a:p>
          <a:p>
            <a:pPr lvl="0" algn="ctr">
              <a:buSzPts val="2000"/>
            </a:pP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Department of Information Technology</a:t>
            </a:r>
          </a:p>
        </p:txBody>
      </p:sp>
      <p:sp>
        <p:nvSpPr>
          <p:cNvPr id="190" name="Google Shape;190;gb2289ff19e_3_37"/>
          <p:cNvSpPr txBox="1">
            <a:spLocks noGrp="1"/>
          </p:cNvSpPr>
          <p:nvPr>
            <p:ph type="sldNum" idx="12"/>
          </p:nvPr>
        </p:nvSpPr>
        <p:spPr>
          <a:xfrm>
            <a:off x="0" y="1271588"/>
            <a:ext cx="533400" cy="24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190"/>
              <a:buNone/>
            </a:pPr>
            <a:fld id="{00000000-1234-1234-1234-123412341234}" type="slidenum">
              <a:rPr lang="en-US" sz="1190"/>
              <a:pPr marL="0" lvl="0" indent="0" algn="ctr" rtl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1190"/>
                <a:buNone/>
              </a:pPr>
              <a:t>7</a:t>
            </a:fld>
            <a:endParaRPr sz="1190"/>
          </a:p>
        </p:txBody>
      </p:sp>
      <p:sp>
        <p:nvSpPr>
          <p:cNvPr id="193" name="Google Shape;193;gb2289ff19e_3_37"/>
          <p:cNvSpPr/>
          <p:nvPr/>
        </p:nvSpPr>
        <p:spPr>
          <a:xfrm>
            <a:off x="368300" y="1580713"/>
            <a:ext cx="8567656" cy="523200"/>
          </a:xfrm>
          <a:prstGeom prst="rect">
            <a:avLst/>
          </a:prstGeom>
          <a:blipFill rotWithShape="1">
            <a:blip r:embed="rId3">
              <a:alphaModFix/>
            </a:blip>
            <a:tile tx="0" ty="0" sx="99997" sy="99997" flip="none" algn="tl"/>
          </a:blipFill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1" dirty="0" smtClean="0">
                <a:solidFill>
                  <a:schemeClr val="dk1"/>
                </a:solidFill>
                <a:latin typeface="Rockwell"/>
                <a:ea typeface="Rockwell"/>
                <a:cs typeface="Rockwell"/>
                <a:sym typeface="Rockwell"/>
              </a:rPr>
              <a:t>Implementation : Resident Interface</a:t>
            </a:r>
            <a:endParaRPr sz="2800" b="1" i="0" u="none" strike="noStrike" cap="none" dirty="0">
              <a:solidFill>
                <a:schemeClr val="dk1"/>
              </a:solidFill>
              <a:latin typeface="Rockwell"/>
              <a:ea typeface="Rockwell"/>
              <a:cs typeface="Rockwell"/>
              <a:sym typeface="Rockwell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156" y="88777"/>
            <a:ext cx="1185170" cy="1098674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03968" y="1"/>
            <a:ext cx="1231988" cy="1271588"/>
          </a:xfrm>
          <a:prstGeom prst="rect">
            <a:avLst/>
          </a:prstGeom>
        </p:spPr>
      </p:pic>
      <p:pic>
        <p:nvPicPr>
          <p:cNvPr id="194" name="Resident report form on desktop" descr="Resident report form on deskto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170000"/>
            <a:ext cx="5550000" cy="3700000"/>
          </a:xfrm>
          <a:prstGeom prst="rect">
            <a:avLst/>
          </a:prstGeom>
          <a:ln w="12700">
            <a:solidFill>
              <a:srgbClr val="94B6D2"/>
            </a:solidFill>
          </a:ln>
        </p:spPr>
      </p:pic>
      <p:pic>
        <p:nvPicPr>
          <p:cNvPr id="195" name="Resident report form on a phone in Marathi" descr="Resident report form on a phone in Marathi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80000" y="2170000"/>
            <a:ext cx="1709716" cy="3700000"/>
          </a:xfrm>
          <a:prstGeom prst="rect">
            <a:avLst/>
          </a:prstGeom>
          <a:ln w="12700">
            <a:solidFill>
              <a:srgbClr val="94B6D2"/>
            </a:solidFill>
          </a:ln>
        </p:spPr>
      </p:pic>
      <p:sp>
        <p:nvSpPr>
          <p:cNvPr id="196" name="TextBox 195"/>
          <p:cNvSpPr txBox="1"/>
          <p:nvPr/>
        </p:nvSpPr>
        <p:spPr>
          <a:xfrm>
            <a:off x="368300" y="5950000"/>
            <a:ext cx="85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sz="1400" b="1">
                <a:solidFill>
                  <a:srgbClr val="000000"/>
                </a:solidFill>
                <a:latin typeface="Calibri"/>
              </a:rPr>
              <a:t>Features:</a:t>
            </a:r>
            <a:r>
              <a:rPr sz="1400" b="0">
                <a:solidFill>
                  <a:srgbClr val="000000"/>
                </a:solidFill>
                <a:latin typeface="Calibri"/>
              </a:rPr>
              <a:t> three languages · voice with editable transcript · optional GPS · consent · ticket ID and private tracking link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b2289ff19e_3_37"/>
          <p:cNvSpPr/>
          <p:nvPr/>
        </p:nvSpPr>
        <p:spPr>
          <a:xfrm>
            <a:off x="0" y="0"/>
            <a:ext cx="9144000" cy="10779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ctr">
              <a:buSzPts val="2000"/>
            </a:pPr>
            <a:r>
              <a:rPr lang="en-US" sz="2000" b="1" i="0" u="none" strike="noStrike" cap="none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</a:t>
            </a: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Army Institute of Technology Pune</a:t>
            </a:r>
          </a:p>
          <a:p>
            <a:pPr lvl="0" algn="ctr">
              <a:buSzPts val="2000"/>
            </a:pP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Department of Information Technology</a:t>
            </a:r>
          </a:p>
        </p:txBody>
      </p:sp>
      <p:sp>
        <p:nvSpPr>
          <p:cNvPr id="190" name="Google Shape;190;gb2289ff19e_3_37"/>
          <p:cNvSpPr txBox="1">
            <a:spLocks noGrp="1"/>
          </p:cNvSpPr>
          <p:nvPr>
            <p:ph type="sldNum" idx="12"/>
          </p:nvPr>
        </p:nvSpPr>
        <p:spPr>
          <a:xfrm>
            <a:off x="0" y="1271588"/>
            <a:ext cx="533400" cy="24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190"/>
              <a:buNone/>
            </a:pPr>
            <a:fld id="{00000000-1234-1234-1234-123412341234}" type="slidenum">
              <a:rPr lang="en-US" sz="1190"/>
              <a:pPr marL="0" lvl="0" indent="0" algn="ctr" rtl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1190"/>
                <a:buNone/>
              </a:pPr>
              <a:t>7</a:t>
            </a:fld>
            <a:endParaRPr sz="1190"/>
          </a:p>
        </p:txBody>
      </p:sp>
      <p:sp>
        <p:nvSpPr>
          <p:cNvPr id="193" name="Google Shape;193;gb2289ff19e_3_37"/>
          <p:cNvSpPr/>
          <p:nvPr/>
        </p:nvSpPr>
        <p:spPr>
          <a:xfrm>
            <a:off x="368300" y="1580713"/>
            <a:ext cx="8567656" cy="523200"/>
          </a:xfrm>
          <a:prstGeom prst="rect">
            <a:avLst/>
          </a:prstGeom>
          <a:blipFill rotWithShape="1">
            <a:blip r:embed="rId3">
              <a:alphaModFix/>
            </a:blip>
            <a:tile tx="0" ty="0" sx="99997" sy="99997" flip="none" algn="tl"/>
          </a:blipFill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1" dirty="0" smtClean="0">
                <a:solidFill>
                  <a:schemeClr val="dk1"/>
                </a:solidFill>
                <a:latin typeface="Rockwell"/>
                <a:ea typeface="Rockwell"/>
                <a:cs typeface="Rockwell"/>
                <a:sym typeface="Rockwell"/>
              </a:rPr>
              <a:t>Implementation : Coordinator Console</a:t>
            </a:r>
            <a:endParaRPr sz="2800" b="1" i="0" u="none" strike="noStrike" cap="none" dirty="0">
              <a:solidFill>
                <a:schemeClr val="dk1"/>
              </a:solidFill>
              <a:latin typeface="Rockwell"/>
              <a:ea typeface="Rockwell"/>
              <a:cs typeface="Rockwell"/>
              <a:sym typeface="Rockwell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156" y="88777"/>
            <a:ext cx="1185170" cy="1098674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03968" y="1"/>
            <a:ext cx="1231988" cy="1271588"/>
          </a:xfrm>
          <a:prstGeom prst="rect">
            <a:avLst/>
          </a:prstGeom>
        </p:spPr>
      </p:pic>
      <p:pic>
        <p:nvPicPr>
          <p:cNvPr id="194" name="Coordinator overview: map and priority queue" descr="Coordinator overview: map and priority queu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170000"/>
            <a:ext cx="4150000" cy="2766667"/>
          </a:xfrm>
          <a:prstGeom prst="rect">
            <a:avLst/>
          </a:prstGeom>
          <a:ln w="12700">
            <a:solidFill>
              <a:srgbClr val="94B6D2"/>
            </a:solidFill>
          </a:ln>
        </p:spPr>
      </p:pic>
      <p:pic>
        <p:nvPicPr>
          <p:cNvPr id="195" name="Incident detail with explained priority score" descr="Incident detail with explained priority scor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0000" y="2170000"/>
            <a:ext cx="4150000" cy="2766667"/>
          </a:xfrm>
          <a:prstGeom prst="rect">
            <a:avLst/>
          </a:prstGeom>
          <a:ln w="12700">
            <a:solidFill>
              <a:srgbClr val="94B6D2"/>
            </a:solidFill>
          </a:ln>
        </p:spPr>
      </p:pic>
      <p:sp>
        <p:nvSpPr>
          <p:cNvPr id="196" name="TextBox 195"/>
          <p:cNvSpPr txBox="1"/>
          <p:nvPr/>
        </p:nvSpPr>
        <p:spPr>
          <a:xfrm>
            <a:off x="368300" y="5000000"/>
            <a:ext cx="85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400"/>
              </a:spcAft>
              <a:buFont typeface="Arial"/>
              <a:buChar char="•"/>
            </a:pPr>
            <a:r>
              <a:rPr sz="1300" b="1">
                <a:solidFill>
                  <a:srgbClr val="000000"/>
                </a:solidFill>
                <a:latin typeface="Calibri"/>
              </a:rPr>
              <a:t>Overview:</a:t>
            </a:r>
            <a:r>
              <a:rPr sz="1300" b="0">
                <a:solidFill>
                  <a:srgbClr val="000000"/>
                </a:solidFill>
                <a:latin typeface="Calibri"/>
              </a:rPr>
              <a:t> live priority queue, private incident map, filters by status, priority, language and channel.</a:t>
            </a:r>
          </a:p>
          <a:p>
            <a:pPr marL="228600" indent="-228600">
              <a:spcAft>
                <a:spcPts val="400"/>
              </a:spcAft>
              <a:buFont typeface="Arial"/>
              <a:buChar char="•"/>
            </a:pPr>
            <a:r>
              <a:rPr sz="1300" b="1">
                <a:solidFill>
                  <a:srgbClr val="000000"/>
                </a:solidFill>
                <a:latin typeface="Calibri"/>
              </a:rPr>
              <a:t>Incident detail:</a:t>
            </a:r>
            <a:r>
              <a:rPr sz="1300" b="0">
                <a:solidFill>
                  <a:srgbClr val="000000"/>
                </a:solidFill>
                <a:latin typeface="Calibri"/>
              </a:rPr>
              <a:t> score reasons, original message, verify / respond / resolve / dismiss, notes and merge with a reason.</a:t>
            </a:r>
          </a:p>
          <a:p>
            <a:pPr marL="228600" indent="-228600">
              <a:spcAft>
                <a:spcPts val="400"/>
              </a:spcAft>
              <a:buFont typeface="Arial"/>
              <a:buChar char="•"/>
            </a:pPr>
            <a:r>
              <a:rPr sz="1300" b="1">
                <a:solidFill>
                  <a:srgbClr val="000000"/>
                </a:solidFill>
                <a:latin typeface="Calibri"/>
              </a:rPr>
              <a:t>Stack:</a:t>
            </a:r>
            <a:r>
              <a:rPr sz="1300" b="0">
                <a:solidFill>
                  <a:srgbClr val="000000"/>
                </a:solidFill>
                <a:latin typeface="Calibri"/>
              </a:rPr>
              <a:t> React + Vite, Leaflet, Recharts · FastAPI, SQLAlchemy, SQLite · optional OpenAI extraction and speech.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b2289ff19e_3_37"/>
          <p:cNvSpPr/>
          <p:nvPr/>
        </p:nvSpPr>
        <p:spPr>
          <a:xfrm>
            <a:off x="0" y="0"/>
            <a:ext cx="9144000" cy="10779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ctr">
              <a:buSzPts val="2000"/>
            </a:pPr>
            <a:r>
              <a:rPr lang="en-US" sz="2000" b="1" i="0" u="none" strike="noStrike" cap="none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</a:t>
            </a: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Army Institute of Technology Pune</a:t>
            </a:r>
          </a:p>
          <a:p>
            <a:pPr lvl="0" algn="ctr">
              <a:buSzPts val="2000"/>
            </a:pP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Department of Information Technology</a:t>
            </a:r>
          </a:p>
        </p:txBody>
      </p:sp>
      <p:sp>
        <p:nvSpPr>
          <p:cNvPr id="190" name="Google Shape;190;gb2289ff19e_3_37"/>
          <p:cNvSpPr txBox="1">
            <a:spLocks noGrp="1"/>
          </p:cNvSpPr>
          <p:nvPr>
            <p:ph type="sldNum" idx="12"/>
          </p:nvPr>
        </p:nvSpPr>
        <p:spPr>
          <a:xfrm>
            <a:off x="0" y="1271588"/>
            <a:ext cx="533400" cy="24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190"/>
              <a:buNone/>
            </a:pPr>
            <a:fld id="{00000000-1234-1234-1234-123412341234}" type="slidenum">
              <a:rPr lang="en-US" sz="1190"/>
              <a:pPr marL="0" lvl="0" indent="0" algn="ctr" rtl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1190"/>
                <a:buNone/>
              </a:pPr>
              <a:t>8</a:t>
            </a:fld>
            <a:endParaRPr sz="1190"/>
          </a:p>
        </p:txBody>
      </p:sp>
      <p:sp>
        <p:nvSpPr>
          <p:cNvPr id="193" name="Google Shape;193;gb2289ff19e_3_37"/>
          <p:cNvSpPr/>
          <p:nvPr/>
        </p:nvSpPr>
        <p:spPr>
          <a:xfrm>
            <a:off x="368300" y="1580713"/>
            <a:ext cx="8567656" cy="523200"/>
          </a:xfrm>
          <a:prstGeom prst="rect">
            <a:avLst/>
          </a:prstGeom>
          <a:blipFill rotWithShape="1">
            <a:blip r:embed="rId3">
              <a:alphaModFix/>
            </a:blip>
            <a:tile tx="0" ty="0" sx="99997" sy="99997" flip="none" algn="tl"/>
          </a:blipFill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1" dirty="0" smtClean="0">
                <a:solidFill>
                  <a:schemeClr val="dk1"/>
                </a:solidFill>
                <a:latin typeface="Rockwell"/>
                <a:ea typeface="Rockwell"/>
                <a:cs typeface="Rockwell"/>
                <a:sym typeface="Rockwell"/>
              </a:rPr>
              <a:t>Result Analysis</a:t>
            </a:r>
            <a:endParaRPr sz="2800" b="1" i="0" u="none" strike="noStrike" cap="none" dirty="0">
              <a:solidFill>
                <a:schemeClr val="dk1"/>
              </a:solidFill>
              <a:latin typeface="Rockwell"/>
              <a:ea typeface="Rockwell"/>
              <a:cs typeface="Rockwell"/>
              <a:sym typeface="Rockwell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156" y="88777"/>
            <a:ext cx="1185170" cy="1098674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03968" y="1"/>
            <a:ext cx="1231988" cy="1271588"/>
          </a:xfrm>
          <a:prstGeom prst="rect">
            <a:avLst/>
          </a:prstGeom>
        </p:spPr>
      </p:pic>
      <p:graphicFrame>
        <p:nvGraphicFramePr>
          <p:cNvPr id="194" name="Table 193"/>
          <p:cNvGraphicFramePr>
            <a:graphicFrameLocks noGrp="1"/>
          </p:cNvGraphicFramePr>
          <p:nvPr/>
        </p:nvGraphicFramePr>
        <p:xfrm>
          <a:off x="368300" y="2170000"/>
          <a:ext cx="8400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0000"/>
                <a:gridCol w="2400000"/>
                <a:gridCol w="3300000"/>
              </a:tblGrid>
              <a:tr h="428571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Calibri"/>
                        </a:rPr>
                        <a:t>Test / 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/>
                </a:tc>
              </a:tr>
              <a:tr h="428571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Backend automated tests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88 / 88 passed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pytest; API, triage, location, delivery, voice</a:t>
                      </a:r>
                    </a:p>
                  </a:txBody>
                  <a:tcPr/>
                </a:tc>
              </a:tr>
              <a:tr h="428571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Browser UI tests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10 / 10 passed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Playwright; resident and coordinator flows</a:t>
                      </a:r>
                    </a:p>
                  </a:txBody>
                  <a:tcPr/>
                </a:tc>
              </a:tr>
              <a:tr h="428571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Synthetic triage suite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150 / 150 exact match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50 cases each in EN, HI, MR; 7 fields</a:t>
                      </a:r>
                    </a:p>
                  </a:txBody>
                  <a:tcPr/>
                </a:tc>
              </a:tr>
              <a:tr h="428571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Report intake latency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median 7.4 ms, p95 9.8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200 local reports, offline rules mode</a:t>
                      </a:r>
                    </a:p>
                  </a:txBody>
                  <a:tcPr/>
                </a:tc>
              </a:tr>
              <a:tr h="428571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Location lookup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0.24 ms per query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450-place Pune gazetteer</a:t>
                      </a:r>
                    </a:p>
                  </a:txBody>
                  <a:tcPr/>
                </a:tc>
              </a:tr>
              <a:tr h="42857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Field 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Pending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Marathi speech accuracy, duplicate F1, landmark accuracy, SMS latency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95" name="TextBox 194"/>
          <p:cNvSpPr txBox="1"/>
          <p:nvPr/>
        </p:nvSpPr>
        <p:spPr>
          <a:xfrm>
            <a:off x="368300" y="5500000"/>
            <a:ext cx="8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sz="1300" b="1">
                <a:solidFill>
                  <a:srgbClr val="000000"/>
                </a:solidFill>
                <a:latin typeface="Calibri"/>
              </a:rPr>
              <a:t>Analysis:</a:t>
            </a:r>
            <a:r>
              <a:rPr sz="1300" b="0">
                <a:solidFill>
                  <a:srgbClr val="000000"/>
                </a:solidFill>
                <a:latin typeface="Calibri"/>
              </a:rPr>
              <a:t> the rules engine handles all three languages consistently and responds in milliseconds, so it works offline and without AI cost. The synthetic suite is a regression check, </a:t>
            </a:r>
            <a:r>
              <a:rPr sz="1300" b="1">
                <a:solidFill>
                  <a:srgbClr val="000000"/>
                </a:solidFill>
                <a:latin typeface="Calibri"/>
              </a:rPr>
              <a:t>not field accuracy</a:t>
            </a:r>
            <a:r>
              <a:rPr sz="1300" b="0">
                <a:solidFill>
                  <a:srgbClr val="000000"/>
                </a:solidFill>
                <a:latin typeface="Calibri"/>
              </a:rPr>
              <a:t>; real accuracy needs a supervised community drill.</a:t>
            </a:r>
          </a:p>
        </p:txBody>
      </p:sp>
    </p:spTree>
    <p:extLst>
      <p:ext uri="{BB962C8B-B14F-4D97-AF65-F5344CB8AC3E}">
        <p14:creationId xmlns:p14="http://schemas.microsoft.com/office/powerpoint/2010/main" val="9289439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b2289ff19e_3_37"/>
          <p:cNvSpPr/>
          <p:nvPr/>
        </p:nvSpPr>
        <p:spPr>
          <a:xfrm>
            <a:off x="0" y="0"/>
            <a:ext cx="9144000" cy="10779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ctr">
              <a:buSzPts val="2000"/>
            </a:pPr>
            <a:r>
              <a:rPr lang="en-US" sz="2000" b="1" i="0" u="none" strike="noStrike" cap="none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</a:t>
            </a: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Army Institute of Technology Pune</a:t>
            </a:r>
          </a:p>
          <a:p>
            <a:pPr lvl="0" algn="ctr">
              <a:buSzPts val="2000"/>
            </a:pP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Department of Information Technology</a:t>
            </a:r>
          </a:p>
        </p:txBody>
      </p:sp>
      <p:sp>
        <p:nvSpPr>
          <p:cNvPr id="190" name="Google Shape;190;gb2289ff19e_3_37"/>
          <p:cNvSpPr txBox="1">
            <a:spLocks noGrp="1"/>
          </p:cNvSpPr>
          <p:nvPr>
            <p:ph type="sldNum" idx="12"/>
          </p:nvPr>
        </p:nvSpPr>
        <p:spPr>
          <a:xfrm>
            <a:off x="0" y="1271588"/>
            <a:ext cx="533400" cy="24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190"/>
              <a:buNone/>
            </a:pPr>
            <a:fld id="{00000000-1234-1234-1234-123412341234}" type="slidenum">
              <a:rPr lang="en-US" sz="1190"/>
              <a:pPr marL="0" lvl="0" indent="0" algn="ctr" rtl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1190"/>
                <a:buNone/>
              </a:pPr>
              <a:t>9</a:t>
            </a:fld>
            <a:endParaRPr sz="1190"/>
          </a:p>
        </p:txBody>
      </p:sp>
      <p:sp>
        <p:nvSpPr>
          <p:cNvPr id="193" name="Google Shape;193;gb2289ff19e_3_37"/>
          <p:cNvSpPr/>
          <p:nvPr/>
        </p:nvSpPr>
        <p:spPr>
          <a:xfrm>
            <a:off x="368300" y="1580713"/>
            <a:ext cx="8567656" cy="523200"/>
          </a:xfrm>
          <a:prstGeom prst="rect">
            <a:avLst/>
          </a:prstGeom>
          <a:blipFill rotWithShape="1">
            <a:blip r:embed="rId3">
              <a:alphaModFix/>
            </a:blip>
            <a:tile tx="0" ty="0" sx="99997" sy="99997" flip="none" algn="tl"/>
          </a:blipFill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1" smtClean="0">
                <a:solidFill>
                  <a:schemeClr val="dk1"/>
                </a:solidFill>
                <a:latin typeface="Rockwell"/>
                <a:ea typeface="Rockwell"/>
                <a:cs typeface="Rockwell"/>
                <a:sym typeface="Rockwell"/>
              </a:rPr>
              <a:t>Conclusion:</a:t>
            </a:r>
            <a:endParaRPr sz="2800" b="1" i="0" u="none" strike="noStrike" cap="none" dirty="0">
              <a:solidFill>
                <a:schemeClr val="dk1"/>
              </a:solidFill>
              <a:latin typeface="Rockwell"/>
              <a:ea typeface="Rockwell"/>
              <a:cs typeface="Rockwell"/>
              <a:sym typeface="Rockwell"/>
            </a:endParaRPr>
          </a:p>
        </p:txBody>
      </p:sp>
      <p:sp>
        <p:nvSpPr>
          <p:cNvPr id="194" name="Google Shape;194;gb2289ff19e_3_37"/>
          <p:cNvSpPr txBox="1"/>
          <p:nvPr/>
        </p:nvSpPr>
        <p:spPr>
          <a:xfrm>
            <a:off x="414750" y="2369925"/>
            <a:ext cx="8400000" cy="4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28600" lvl="0" indent="-228600" algn="l" rtl="0">
              <a:spcBef>
                <a:spcPts val="0"/>
              </a:spcBef>
              <a:spcAft>
                <a:spcPts val="1000"/>
              </a:spcAft>
              <a:buClr>
                <a:schemeClr val="dk1"/>
              </a:buClr>
              <a:buSzPts val="2200"/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Calibri"/>
              </a:rPr>
              <a:t>AwaazSetu shows that an </a:t>
            </a:r>
            <a:r>
              <a:rPr sz="1600" b="1">
                <a:solidFill>
                  <a:srgbClr val="000000"/>
                </a:solidFill>
                <a:latin typeface="Calibri"/>
              </a:rPr>
              <a:t>inclusive, multilingual, SMS- and voice-ready</a:t>
            </a:r>
            <a:r>
              <a:rPr sz="1600" b="0">
                <a:solidFill>
                  <a:srgbClr val="000000"/>
                </a:solidFill>
                <a:latin typeface="Calibri"/>
              </a:rPr>
              <a:t> channel can turn scattered flood reports into a </a:t>
            </a:r>
            <a:r>
              <a:rPr sz="1600" b="1">
                <a:solidFill>
                  <a:srgbClr val="000000"/>
                </a:solidFill>
                <a:latin typeface="Calibri"/>
              </a:rPr>
              <a:t>reviewed, located and prioritised</a:t>
            </a:r>
            <a:r>
              <a:rPr sz="1600" b="0">
                <a:solidFill>
                  <a:srgbClr val="000000"/>
                </a:solidFill>
                <a:latin typeface="Calibri"/>
              </a:rPr>
              <a:t> picture.</a:t>
            </a:r>
            <a:endParaRPr sz="2200" dirty="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228600" indent="-228600">
              <a:spcAft>
                <a:spcPts val="1000"/>
              </a:spcAft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Calibri"/>
              </a:rPr>
              <a:t>Explained scores, conservative merging and </a:t>
            </a:r>
            <a:r>
              <a:rPr sz="1600" b="1">
                <a:solidFill>
                  <a:srgbClr val="000000"/>
                </a:solidFill>
                <a:latin typeface="Calibri"/>
              </a:rPr>
              <a:t>ask-don’t-guess</a:t>
            </a:r>
            <a:r>
              <a:rPr sz="1600" b="0">
                <a:solidFill>
                  <a:srgbClr val="000000"/>
                </a:solidFill>
                <a:latin typeface="Calibri"/>
              </a:rPr>
              <a:t> locations keep coordinators in control.</a:t>
            </a:r>
          </a:p>
          <a:p>
            <a:pPr marL="228600" indent="-228600">
              <a:spcAft>
                <a:spcPts val="1000"/>
              </a:spcAft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Calibri"/>
              </a:rPr>
              <a:t>The coverage dashboard makes visible </a:t>
            </a:r>
            <a:r>
              <a:rPr sz="1600" b="1">
                <a:solidFill>
                  <a:srgbClr val="000000"/>
                </a:solidFill>
                <a:latin typeface="Calibri"/>
              </a:rPr>
              <a:t>who is still missing</a:t>
            </a:r>
            <a:r>
              <a:rPr sz="1600" b="0">
                <a:solidFill>
                  <a:srgbClr val="000000"/>
                </a:solidFill>
                <a:latin typeface="Calibri"/>
              </a:rPr>
              <a:t> from the data — the core gap found in the literature.</a:t>
            </a:r>
          </a:p>
          <a:p>
            <a:pPr marL="228600" indent="-228600">
              <a:spcAft>
                <a:spcPts val="1000"/>
              </a:spcAft>
              <a:buFont typeface="Arial"/>
              <a:buChar char="•"/>
            </a:pPr>
            <a:r>
              <a:rPr sz="1600" b="1">
                <a:solidFill>
                  <a:srgbClr val="000000"/>
                </a:solidFill>
                <a:latin typeface="Calibri"/>
              </a:rPr>
              <a:t>Future work:</a:t>
            </a:r>
            <a:r>
              <a:rPr sz="1600" b="0">
                <a:solidFill>
                  <a:srgbClr val="000000"/>
                </a:solidFill>
                <a:latin typeface="Calibri"/>
              </a:rPr>
              <a:t> connect the Android SMS gateway and Telegram bot, run a supervised drill, measure Marathi speech accuracy and duplicate F1, and add phone-ownership verification.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156" y="88777"/>
            <a:ext cx="1185170" cy="1098674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03968" y="1"/>
            <a:ext cx="1231988" cy="1271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6397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13"/>
          <p:cNvSpPr/>
          <p:nvPr/>
        </p:nvSpPr>
        <p:spPr>
          <a:xfrm>
            <a:off x="1066801" y="2743200"/>
            <a:ext cx="6321868" cy="12003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200"/>
              <a:buFont typeface="Arial"/>
              <a:buNone/>
            </a:pPr>
            <a:r>
              <a:rPr lang="en-US" sz="7200" b="1" i="0" u="none" strike="noStrike" cap="none">
                <a:solidFill>
                  <a:srgbClr val="C00000"/>
                </a:solidFill>
                <a:latin typeface="Tahoma"/>
                <a:ea typeface="Tahoma"/>
                <a:cs typeface="Tahoma"/>
                <a:sym typeface="Tahoma"/>
              </a:rPr>
              <a:t>Thank You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4" name="Google Shape;324;p13"/>
          <p:cNvSpPr/>
          <p:nvPr/>
        </p:nvSpPr>
        <p:spPr>
          <a:xfrm>
            <a:off x="0" y="0"/>
            <a:ext cx="9144000" cy="7078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buSzPts val="2000"/>
            </a:pPr>
            <a:r>
              <a:rPr lang="en-US" sz="2000" b="1" i="0" u="none" strike="noStrike" cap="none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Army Institute of Technology Pune</a:t>
            </a:r>
          </a:p>
          <a:p>
            <a:pPr lvl="0" algn="ctr">
              <a:buSzPts val="2000"/>
            </a:pP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Department of Information Technology</a:t>
            </a:r>
          </a:p>
        </p:txBody>
      </p:sp>
      <p:sp>
        <p:nvSpPr>
          <p:cNvPr id="327" name="Google Shape;327;p13"/>
          <p:cNvSpPr txBox="1">
            <a:spLocks noGrp="1"/>
          </p:cNvSpPr>
          <p:nvPr>
            <p:ph type="sldNum" idx="12"/>
          </p:nvPr>
        </p:nvSpPr>
        <p:spPr>
          <a:xfrm>
            <a:off x="0" y="1271588"/>
            <a:ext cx="533400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190"/>
              <a:buNone/>
            </a:pPr>
            <a:fld id="{00000000-1234-1234-1234-123412341234}" type="slidenum">
              <a:rPr lang="en-US" sz="1190"/>
              <a:pPr marL="0" lvl="0" indent="0" algn="ctr" rtl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1190"/>
                <a:buNone/>
              </a:pPr>
              <a:t>10</a:t>
            </a:fld>
            <a:endParaRPr sz="1190"/>
          </a:p>
        </p:txBody>
      </p:sp>
      <p:sp>
        <p:nvSpPr>
          <p:cNvPr id="329" name="Google Shape;329;p13"/>
          <p:cNvSpPr txBox="1"/>
          <p:nvPr/>
        </p:nvSpPr>
        <p:spPr>
          <a:xfrm>
            <a:off x="-1762650" y="3377150"/>
            <a:ext cx="7335000" cy="8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156" y="88777"/>
            <a:ext cx="1185170" cy="1098674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03968" y="1"/>
            <a:ext cx="1231988" cy="12715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Median">
  <a:themeElements>
    <a:clrScheme name="Custom 4">
      <a:dk1>
        <a:srgbClr val="000000"/>
      </a:dk1>
      <a:lt1>
        <a:srgbClr val="FFFFFF"/>
      </a:lt1>
      <a:dk2>
        <a:srgbClr val="775F55"/>
      </a:dk2>
      <a:lt2>
        <a:srgbClr val="EBDDC3"/>
      </a:lt2>
      <a:accent1>
        <a:srgbClr val="94B6D2"/>
      </a:accent1>
      <a:accent2>
        <a:srgbClr val="DD8047"/>
      </a:accent2>
      <a:accent3>
        <a:srgbClr val="A5AB81"/>
      </a:accent3>
      <a:accent4>
        <a:srgbClr val="D8B25C"/>
      </a:accent4>
      <a:accent5>
        <a:srgbClr val="7BA79D"/>
      </a:accent5>
      <a:accent6>
        <a:srgbClr val="968C8C"/>
      </a:accent6>
      <a:hlink>
        <a:srgbClr val="000000"/>
      </a:hlink>
      <a:folHlink>
        <a:srgbClr val="775F5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262</TotalTime>
  <Words>236</Words>
  <Application>Microsoft Office PowerPoint</Application>
  <PresentationFormat>On-screen Show (4:3)</PresentationFormat>
  <Paragraphs>78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20" baseType="lpstr">
      <vt:lpstr>Arial</vt:lpstr>
      <vt:lpstr>Tahoma</vt:lpstr>
      <vt:lpstr>Noto Sans Symbols</vt:lpstr>
      <vt:lpstr>Cambria</vt:lpstr>
      <vt:lpstr>Rockwell</vt:lpstr>
      <vt:lpstr>Tw Cen MT</vt:lpstr>
      <vt:lpstr>Times New Roman</vt:lpstr>
      <vt:lpstr>Calibri</vt:lpstr>
      <vt:lpstr>Twentieth Century</vt:lpstr>
      <vt:lpstr>Median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Jiawei Han</dc:creator>
  <cp:lastModifiedBy>Dr Priya Nerkar</cp:lastModifiedBy>
  <cp:revision>22</cp:revision>
  <dcterms:created xsi:type="dcterms:W3CDTF">1999-12-01T22:01:55Z</dcterms:created>
  <dcterms:modified xsi:type="dcterms:W3CDTF">2026-10-22T06:44:23Z</dcterms:modified>
</cp:coreProperties>
</file>